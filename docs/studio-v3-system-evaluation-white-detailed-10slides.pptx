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5ed13726124fba" /><Relationship Type="http://schemas.openxmlformats.org/officeDocument/2006/relationships/extended-properties" Target="/docProps/app.xml" Id="R657b34693e29493f" /><Relationship Type="http://schemas.openxmlformats.org/officeDocument/2006/relationships/officeDocument" Target="/ppt/presentation.xml" Id="R7803bd17ac1a49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b311672d3b40fd"/>
  </p:sldMasterIdLst>
  <p:notesMasterIdLst>
    <p:notesMasterId xmlns:r="http://schemas.openxmlformats.org/officeDocument/2006/relationships" r:id="Rdd7f53b4cc6d4efb"/>
  </p:notesMasterIdLst>
  <p:sldIdLst>
    <p:sldId xmlns:r="http://schemas.openxmlformats.org/officeDocument/2006/relationships" id="256" r:id="Rebc6ad59d03b4dd4"/>
    <p:sldId xmlns:r="http://schemas.openxmlformats.org/officeDocument/2006/relationships" id="257" r:id="Rc14d2c1250fb41c9"/>
    <p:sldId xmlns:r="http://schemas.openxmlformats.org/officeDocument/2006/relationships" id="258" r:id="R9a5c85f49b194d59"/>
    <p:sldId xmlns:r="http://schemas.openxmlformats.org/officeDocument/2006/relationships" id="259" r:id="Ra6f9be7a6ef3402b"/>
    <p:sldId xmlns:r="http://schemas.openxmlformats.org/officeDocument/2006/relationships" id="260" r:id="R9172bdfde4f04bc6"/>
    <p:sldId xmlns:r="http://schemas.openxmlformats.org/officeDocument/2006/relationships" id="261" r:id="Rec0036f442ae4404"/>
    <p:sldId xmlns:r="http://schemas.openxmlformats.org/officeDocument/2006/relationships" id="262" r:id="R94ee48d6de6f4acd"/>
    <p:sldId xmlns:r="http://schemas.openxmlformats.org/officeDocument/2006/relationships" id="263" r:id="Rfe07674a3dba4670"/>
    <p:sldId xmlns:r="http://schemas.openxmlformats.org/officeDocument/2006/relationships" id="264" r:id="Rab82b5594d314017"/>
    <p:sldId xmlns:r="http://schemas.openxmlformats.org/officeDocument/2006/relationships" id="265" r:id="R9702708758b9411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3cc5660d28474f" /><Relationship Type="http://schemas.openxmlformats.org/officeDocument/2006/relationships/slideMaster" Target="/ppt/slideMasters/slideMaster1.xml" Id="Rebb311672d3b40fd" /><Relationship Type="http://schemas.openxmlformats.org/officeDocument/2006/relationships/notesMaster" Target="/ppt/notesMasters/notesMaster1.xml" Id="Rdd7f53b4cc6d4efb" /><Relationship Type="http://schemas.openxmlformats.org/officeDocument/2006/relationships/presProps" Target="/ppt/presProps.xml" Id="R974c86e57c964f1e" /><Relationship Type="http://schemas.openxmlformats.org/officeDocument/2006/relationships/tableStyles" Target="/ppt/tableStyles.xml" Id="Rb97abcc82aa04e24" /><Relationship Type="http://schemas.openxmlformats.org/officeDocument/2006/relationships/slide" Target="/ppt/slides/slide1.xml" Id="Rebc6ad59d03b4dd4" /><Relationship Type="http://schemas.openxmlformats.org/officeDocument/2006/relationships/slide" Target="/ppt/slides/slide2.xml" Id="Rc14d2c1250fb41c9" /><Relationship Type="http://schemas.openxmlformats.org/officeDocument/2006/relationships/slide" Target="/ppt/slides/slide3.xml" Id="R9a5c85f49b194d59" /><Relationship Type="http://schemas.openxmlformats.org/officeDocument/2006/relationships/slide" Target="/ppt/slides/slide4.xml" Id="Ra6f9be7a6ef3402b" /><Relationship Type="http://schemas.openxmlformats.org/officeDocument/2006/relationships/slide" Target="/ppt/slides/slide5.xml" Id="R9172bdfde4f04bc6" /><Relationship Type="http://schemas.openxmlformats.org/officeDocument/2006/relationships/slide" Target="/ppt/slides/slide6.xml" Id="Rec0036f442ae4404" /><Relationship Type="http://schemas.openxmlformats.org/officeDocument/2006/relationships/slide" Target="/ppt/slides/slide7.xml" Id="R94ee48d6de6f4acd" /><Relationship Type="http://schemas.openxmlformats.org/officeDocument/2006/relationships/slide" Target="/ppt/slides/slide8.xml" Id="Rfe07674a3dba4670" /><Relationship Type="http://schemas.openxmlformats.org/officeDocument/2006/relationships/slide" Target="/ppt/slides/slide9.xml" Id="Rab82b5594d314017" /><Relationship Type="http://schemas.openxmlformats.org/officeDocument/2006/relationships/slide" Target="/ppt/slides/slide10.xml" Id="R9702708758b941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1d33a4fc5043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20acd5fe6c4c36" /><Relationship Type="http://schemas.openxmlformats.org/officeDocument/2006/relationships/notesMaster" Target="/ppt/notesMasters/notesMaster1.xml" Id="R1b66e2da06b84f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a00a9435074354" /><Relationship Type="http://schemas.openxmlformats.org/officeDocument/2006/relationships/notesMaster" Target="/ppt/notesMasters/notesMaster1.xml" Id="R7a1b78646f3947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9142636f8c4b9a" /><Relationship Type="http://schemas.openxmlformats.org/officeDocument/2006/relationships/notesMaster" Target="/ppt/notesMasters/notesMaster1.xml" Id="R13d6197d626e46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8dd8ebf687496f" /><Relationship Type="http://schemas.openxmlformats.org/officeDocument/2006/relationships/notesMaster" Target="/ppt/notesMasters/notesMaster1.xml" Id="Rc8d86d23df6143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efedfb1d3a4154" /><Relationship Type="http://schemas.openxmlformats.org/officeDocument/2006/relationships/notesMaster" Target="/ppt/notesMasters/notesMaster1.xml" Id="Re1ff2509000c47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26efc603da4d46" /><Relationship Type="http://schemas.openxmlformats.org/officeDocument/2006/relationships/notesMaster" Target="/ppt/notesMasters/notesMaster1.xml" Id="R3a09b0e1355043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b81bae3c7e4abd" /><Relationship Type="http://schemas.openxmlformats.org/officeDocument/2006/relationships/notesMaster" Target="/ppt/notesMasters/notesMaster1.xml" Id="Rd0452288c7074f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29f25879674af5" /><Relationship Type="http://schemas.openxmlformats.org/officeDocument/2006/relationships/notesMaster" Target="/ppt/notesMasters/notesMaster1.xml" Id="R2c656acfdf3348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c5380c93aa4ac9" /><Relationship Type="http://schemas.openxmlformats.org/officeDocument/2006/relationships/notesMaster" Target="/ppt/notesMasters/notesMaster1.xml" Id="R5deefd448cc241c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f914ba61577480e" /><Relationship Type="http://schemas.openxmlformats.org/officeDocument/2006/relationships/notesMaster" Target="/ppt/notesMasters/notesMaster1.xml" Id="R3a8881f063224d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ff100cebcd42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c3abb5795e4bcf" /><Relationship Type="http://schemas.openxmlformats.org/officeDocument/2006/relationships/slideLayout" Target="/ppt/slideLayouts/slideLayout1.xml" Id="Rf0b15794bee643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b15794bee643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0cad7aca3a4cff" /><Relationship Type="http://schemas.openxmlformats.org/officeDocument/2006/relationships/notesSlide" Target="/ppt/notesSlides/notesSlide1.xml" Id="Rd0cec8491a6645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c4bd678694a0b" /><Relationship Type="http://schemas.openxmlformats.org/officeDocument/2006/relationships/notesSlide" Target="/ppt/notesSlides/notesSlide2.xml" Id="R2461a89373df46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4c4b5c2a844a59" /><Relationship Type="http://schemas.openxmlformats.org/officeDocument/2006/relationships/notesSlide" Target="/ppt/notesSlides/notesSlide3.xml" Id="R1a105b22653145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bf7d283f524237" /><Relationship Type="http://schemas.openxmlformats.org/officeDocument/2006/relationships/notesSlide" Target="/ppt/notesSlides/notesSlide4.xml" Id="Rdd775eb53a9943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1d38d1f5d4c8f" /><Relationship Type="http://schemas.openxmlformats.org/officeDocument/2006/relationships/notesSlide" Target="/ppt/notesSlides/notesSlide5.xml" Id="R27fa814c67fe48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e993a12b445dd" /><Relationship Type="http://schemas.openxmlformats.org/officeDocument/2006/relationships/notesSlide" Target="/ppt/notesSlides/notesSlide6.xml" Id="R33a591ca6c9a49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c5a8bc0568497f" /><Relationship Type="http://schemas.openxmlformats.org/officeDocument/2006/relationships/notesSlide" Target="/ppt/notesSlides/notesSlide7.xml" Id="Rae3985b76bf740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79befa1864d6c" /><Relationship Type="http://schemas.openxmlformats.org/officeDocument/2006/relationships/notesSlide" Target="/ppt/notesSlides/notesSlide8.xml" Id="R03df52b4a10540f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6f3af465244a3" /><Relationship Type="http://schemas.openxmlformats.org/officeDocument/2006/relationships/notesSlide" Target="/ppt/notesSlides/notesSlide9.xml" Id="Ref8a3007e8b8412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fde19610b34f96" /><Relationship Type="http://schemas.openxmlformats.org/officeDocument/2006/relationships/notesSlide" Target="/ppt/notesSlides/notesSlide10.xml" Id="R560823b28ed94ce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B8EC8532-826D-45B3-A503-C6C3C336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AIYA STUDIO</a:t>
            </a:r>
          </a:p>
        </p:txBody>
      </p:sp>
      <p:sp>
        <p:nvSpPr>
          <p:cNvPr id="2" name="deck-type">
            <a:extLst xmlns:a="http://schemas.openxmlformats.org/drawingml/2006/main">
              <a:ext uri="{FF2B5EF4-FFF2-40B4-BE49-F238E27FC236}">
                <a16:creationId xmlns:a16="http://schemas.microsoft.com/office/drawing/2014/main" id="{9E9C87DB-14D6-4F0C-89BE-4EEF5F9C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8A94A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8A94A0"/>
                </a:solidFill>
                <a:latin typeface="Microsoft YaHei UI"/>
                <a:ea typeface="Microsoft YaHei UI"/>
                <a:cs typeface="Microsoft YaHei UI"/>
              </a:rPr>
              <a:t>SYSTEM EVALUATION / ENTERPRISE INTERNAL WORKFLOW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FEF375ED-D422-4408-8D9F-10106B3E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4" name="hero">
            <a:extLst xmlns:a="http://schemas.openxmlformats.org/drawingml/2006/main">
              <a:ext uri="{FF2B5EF4-FFF2-40B4-BE49-F238E27FC236}">
                <a16:creationId xmlns:a16="http://schemas.microsoft.com/office/drawing/2014/main" id="{D3CE3986-9E66-4BF2-B0F4-A1A35E9A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7429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5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5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企业内部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5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5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AI 制片工作流系统</a:t>
            </a:r>
          </a:p>
        </p:txBody>
      </p:sp>
      <p:sp>
        <p:nvSpPr>
          <p:cNvPr id="5" name="sub">
            <a:extLst xmlns:a="http://schemas.openxmlformats.org/drawingml/2006/main">
              <a:ext uri="{FF2B5EF4-FFF2-40B4-BE49-F238E27FC236}">
                <a16:creationId xmlns:a16="http://schemas.microsoft.com/office/drawing/2014/main" id="{4327FB15-7CF1-46A5-87C0-9B87557B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24200"/>
            <a:ext cx="752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一句话定位：这是基于 GPT-Image 2 Edit + Dreamina / Seedance 2.0 的企业内部 AI 制片工作流系统，核心价值是多 AGENT 制片认知封装。</a:t>
            </a:r>
          </a:p>
        </p:txBody>
      </p:sp>
      <p:sp>
        <p:nvSpPr>
          <p:cNvPr id="6" name="position-card">
            <a:extLst xmlns:a="http://schemas.openxmlformats.org/drawingml/2006/main">
              <a:ext uri="{FF2B5EF4-FFF2-40B4-BE49-F238E27FC236}">
                <a16:creationId xmlns:a16="http://schemas.microsoft.com/office/drawing/2014/main" id="{BCBA0D9B-872C-4554-B46F-00022873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57300"/>
            <a:ext cx="2952750" cy="2857500"/>
          </a:xfrm>
          <a:prstGeom xmlns:a="http://schemas.openxmlformats.org/drawingml/2006/main" prst="roundRect">
            <a:avLst>
              <a:gd name="adj" fmla="val 667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7" name="position-card-k">
            <a:extLst xmlns:a="http://schemas.openxmlformats.org/drawingml/2006/main">
              <a:ext uri="{FF2B5EF4-FFF2-40B4-BE49-F238E27FC236}">
                <a16:creationId xmlns:a16="http://schemas.microsoft.com/office/drawing/2014/main" id="{782C7584-BEF2-4A95-B41B-2BCD7E91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5240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核心判断</a:t>
            </a:r>
          </a:p>
        </p:txBody>
      </p:sp>
      <p:sp>
        <p:nvSpPr>
          <p:cNvPr id="8" name="position-card-main">
            <a:extLst xmlns:a="http://schemas.openxmlformats.org/drawingml/2006/main">
              <a:ext uri="{FF2B5EF4-FFF2-40B4-BE49-F238E27FC236}">
                <a16:creationId xmlns:a16="http://schemas.microsoft.com/office/drawing/2014/main" id="{62D7E7FE-D09F-48EB-92EC-129DC70A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66900"/>
            <a:ext cx="24003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不是普通平台。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不是无限画布。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不是单 AGENT prompt 工具。</a:t>
            </a:r>
          </a:p>
        </p:txBody>
      </p:sp>
      <p:sp>
        <p:nvSpPr>
          <p:cNvPr id="9" name="position-card-body">
            <a:extLst xmlns:a="http://schemas.openxmlformats.org/drawingml/2006/main">
              <a:ext uri="{FF2B5EF4-FFF2-40B4-BE49-F238E27FC236}">
                <a16:creationId xmlns:a16="http://schemas.microsoft.com/office/drawing/2014/main" id="{2705A98B-6839-4F29-821D-D9EB5B8E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33750"/>
            <a:ext cx="2400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它的目标是把专业制片判断封装成流程，让低经验操作员也能产出高于自身视觉水平的结果。</a:t>
            </a:r>
          </a:p>
        </p:txBody>
      </p:sp>
      <p:sp>
        <p:nvSpPr>
          <p:cNvPr id="10" name="process-cell">
            <a:extLst xmlns:a="http://schemas.openxmlformats.org/drawingml/2006/main">
              <a:ext uri="{FF2B5EF4-FFF2-40B4-BE49-F238E27FC236}">
                <a16:creationId xmlns:a16="http://schemas.microsoft.com/office/drawing/2014/main" id="{742D50E5-1D88-4484-8ECE-2E7ACE5F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0"/>
            <a:ext cx="2581275" cy="10668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process-no">
            <a:extLst xmlns:a="http://schemas.openxmlformats.org/drawingml/2006/main">
              <a:ext uri="{FF2B5EF4-FFF2-40B4-BE49-F238E27FC236}">
                <a16:creationId xmlns:a16="http://schemas.microsoft.com/office/drawing/2014/main" id="{63F2E40D-DB92-4A84-AC37-003B5D32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006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01</a:t>
            </a:r>
          </a:p>
        </p:txBody>
      </p:sp>
      <p:sp>
        <p:nvSpPr>
          <p:cNvPr id="12" name="process-title">
            <a:extLst xmlns:a="http://schemas.openxmlformats.org/drawingml/2006/main">
              <a:ext uri="{FF2B5EF4-FFF2-40B4-BE49-F238E27FC236}">
                <a16:creationId xmlns:a16="http://schemas.microsoft.com/office/drawing/2014/main" id="{170CF6AC-6257-4810-A844-F34FBA5E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2314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剧本讨论</a:t>
            </a:r>
          </a:p>
        </p:txBody>
      </p:sp>
      <p:sp>
        <p:nvSpPr>
          <p:cNvPr id="13" name="process-body">
            <a:extLst xmlns:a="http://schemas.openxmlformats.org/drawingml/2006/main">
              <a:ext uri="{FF2B5EF4-FFF2-40B4-BE49-F238E27FC236}">
                <a16:creationId xmlns:a16="http://schemas.microsoft.com/office/drawing/2014/main" id="{53C7C70A-68B9-46C3-AF93-955B3026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2314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6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多 AGENT 先建立故事、角色和表演判断。</a:t>
            </a:r>
          </a:p>
        </p:txBody>
      </p:sp>
      <p:sp>
        <p:nvSpPr>
          <p:cNvPr id="14" name="process-cell">
            <a:extLst xmlns:a="http://schemas.openxmlformats.org/drawingml/2006/main">
              <a:ext uri="{FF2B5EF4-FFF2-40B4-BE49-F238E27FC236}">
                <a16:creationId xmlns:a16="http://schemas.microsoft.com/office/drawing/2014/main" id="{A5A75AA7-C35E-444F-9E68-BEFA3907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667250"/>
            <a:ext cx="2581275" cy="10668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process-no">
            <a:extLst xmlns:a="http://schemas.openxmlformats.org/drawingml/2006/main">
              <a:ext uri="{FF2B5EF4-FFF2-40B4-BE49-F238E27FC236}">
                <a16:creationId xmlns:a16="http://schemas.microsoft.com/office/drawing/2014/main" id="{AC343810-07B4-4485-AEEF-14142FA0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8006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16" name="process-title">
            <a:extLst xmlns:a="http://schemas.openxmlformats.org/drawingml/2006/main">
              <a:ext uri="{FF2B5EF4-FFF2-40B4-BE49-F238E27FC236}">
                <a16:creationId xmlns:a16="http://schemas.microsoft.com/office/drawing/2014/main" id="{4A70D1E2-550A-46BE-8507-98A61FEC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5086350"/>
            <a:ext cx="2314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分镜生产</a:t>
            </a:r>
          </a:p>
        </p:txBody>
      </p:sp>
      <p:sp>
        <p:nvSpPr>
          <p:cNvPr id="17" name="process-body">
            <a:extLst xmlns:a="http://schemas.openxmlformats.org/drawingml/2006/main">
              <a:ext uri="{FF2B5EF4-FFF2-40B4-BE49-F238E27FC236}">
                <a16:creationId xmlns:a16="http://schemas.microsoft.com/office/drawing/2014/main" id="{7C8654E1-54E3-42B1-9F1A-A963CE2D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5410200"/>
            <a:ext cx="2314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6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自动拆分 SHOT，写入标注和参考调用。</a:t>
            </a:r>
          </a:p>
        </p:txBody>
      </p:sp>
      <p:sp>
        <p:nvSpPr>
          <p:cNvPr id="18" name="process-cell">
            <a:extLst xmlns:a="http://schemas.openxmlformats.org/drawingml/2006/main">
              <a:ext uri="{FF2B5EF4-FFF2-40B4-BE49-F238E27FC236}">
                <a16:creationId xmlns:a16="http://schemas.microsoft.com/office/drawing/2014/main" id="{10CC0097-DBB2-4F35-9D6F-0CC31159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667250"/>
            <a:ext cx="2581275" cy="10668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9" name="process-no">
            <a:extLst xmlns:a="http://schemas.openxmlformats.org/drawingml/2006/main">
              <a:ext uri="{FF2B5EF4-FFF2-40B4-BE49-F238E27FC236}">
                <a16:creationId xmlns:a16="http://schemas.microsoft.com/office/drawing/2014/main" id="{8AF58480-EB99-4F91-A6D3-9174FE19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8006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sp>
        <p:nvSpPr>
          <p:cNvPr id="20" name="process-title">
            <a:extLst xmlns:a="http://schemas.openxmlformats.org/drawingml/2006/main">
              <a:ext uri="{FF2B5EF4-FFF2-40B4-BE49-F238E27FC236}">
                <a16:creationId xmlns:a16="http://schemas.microsoft.com/office/drawing/2014/main" id="{486CA575-AD32-424A-9DAB-F632FC4C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086350"/>
            <a:ext cx="2314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图像/视频</a:t>
            </a:r>
          </a:p>
        </p:txBody>
      </p:sp>
      <p:sp>
        <p:nvSpPr>
          <p:cNvPr id="21" name="process-body">
            <a:extLst xmlns:a="http://schemas.openxmlformats.org/drawingml/2006/main">
              <a:ext uri="{FF2B5EF4-FFF2-40B4-BE49-F238E27FC236}">
                <a16:creationId xmlns:a16="http://schemas.microsoft.com/office/drawing/2014/main" id="{944C9F50-0B84-4ACE-87C6-02161BC5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410200"/>
            <a:ext cx="2314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6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GPT-Image 2 Edit 与 Dreamina / Seedance 进入队列。</a:t>
            </a:r>
          </a:p>
        </p:txBody>
      </p:sp>
      <p:sp>
        <p:nvSpPr>
          <p:cNvPr id="22" name="process-cell">
            <a:extLst xmlns:a="http://schemas.openxmlformats.org/drawingml/2006/main">
              <a:ext uri="{FF2B5EF4-FFF2-40B4-BE49-F238E27FC236}">
                <a16:creationId xmlns:a16="http://schemas.microsoft.com/office/drawing/2014/main" id="{5B3F1837-987D-4747-A941-870DDE0C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667250"/>
            <a:ext cx="2581275" cy="10668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E9F8FB"/>
          </a:solidFill>
          <a:ln xmlns:a="http://schemas.openxmlformats.org/drawingml/2006/main" w="9525">
            <a:solidFill>
              <a:srgbClr val="20A9C9"/>
            </a:solidFill>
            <a:prstDash val="solid"/>
          </a:ln>
        </p:spPr>
      </p:sp>
      <p:sp>
        <p:nvSpPr>
          <p:cNvPr id="23" name="process-no">
            <a:extLst xmlns:a="http://schemas.openxmlformats.org/drawingml/2006/main">
              <a:ext uri="{FF2B5EF4-FFF2-40B4-BE49-F238E27FC236}">
                <a16:creationId xmlns:a16="http://schemas.microsoft.com/office/drawing/2014/main" id="{50878D17-5D03-4351-8DDB-B579BE9E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8006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04</a:t>
            </a:r>
          </a:p>
        </p:txBody>
      </p:sp>
      <p:sp>
        <p:nvSpPr>
          <p:cNvPr id="24" name="process-title">
            <a:extLst xmlns:a="http://schemas.openxmlformats.org/drawingml/2006/main">
              <a:ext uri="{FF2B5EF4-FFF2-40B4-BE49-F238E27FC236}">
                <a16:creationId xmlns:a16="http://schemas.microsoft.com/office/drawing/2014/main" id="{AA5FDDAE-E5F7-49ED-A595-7B898B48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086350"/>
            <a:ext cx="2314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审稿修复</a:t>
            </a:r>
          </a:p>
        </p:txBody>
      </p:sp>
      <p:sp>
        <p:nvSpPr>
          <p:cNvPr id="25" name="process-body">
            <a:extLst xmlns:a="http://schemas.openxmlformats.org/drawingml/2006/main">
              <a:ext uri="{FF2B5EF4-FFF2-40B4-BE49-F238E27FC236}">
                <a16:creationId xmlns:a16="http://schemas.microsoft.com/office/drawing/2014/main" id="{935306F3-571E-4E04-8322-34E2DE7C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410200"/>
            <a:ext cx="2314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6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失败补缺、质量门禁、下游复用。</a:t>
            </a:r>
          </a:p>
        </p:txBody>
      </p:sp>
      <p:sp>
        <p:nvSpPr>
          <p:cNvPr id="2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688DAAE-25A7-4F97-8462-28CF734B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27" name="footer-note">
            <a:extLst xmlns:a="http://schemas.openxmlformats.org/drawingml/2006/main">
              <a:ext uri="{FF2B5EF4-FFF2-40B4-BE49-F238E27FC236}">
                <a16:creationId xmlns:a16="http://schemas.microsoft.com/office/drawing/2014/main" id="{FD257052-2774-427A-8285-126DB630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A94A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8A94A0"/>
                </a:solidFill>
                <a:latin typeface="Microsoft YaHei UI"/>
                <a:ea typeface="Microsoft YaHei UI"/>
                <a:cs typeface="Microsoft YaHei UI"/>
              </a:rPr>
              <a:t>本页定位用于商业评估开场，不按普通网页或画布工具口径估值</a:t>
            </a:r>
          </a:p>
        </p:txBody>
      </p:sp>
      <p:sp>
        <p:nvSpPr>
          <p:cNvPr id="28" name="footer-stack">
            <a:extLst xmlns:a="http://schemas.openxmlformats.org/drawingml/2006/main">
              <a:ext uri="{FF2B5EF4-FFF2-40B4-BE49-F238E27FC236}">
                <a16:creationId xmlns:a16="http://schemas.microsoft.com/office/drawing/2014/main" id="{27641190-DE3B-42C6-A147-E6747427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534150"/>
            <a:ext cx="422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8A94A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8A94A0"/>
                </a:solidFill>
                <a:latin typeface="Microsoft YaHei UI"/>
                <a:ea typeface="Microsoft YaHei UI"/>
                <a:cs typeface="Microsoft YaHei UI"/>
              </a:rPr>
              <a:t>GPT-Image 2 Edit + Dreamina / Seedance 2.0 + Multi AGENT Workflow</a:t>
            </a:r>
          </a:p>
        </p:txBody>
      </p:sp>
    </p:spTree>
    <p:extLst>
      <p:ext uri="{BB962C8B-B14F-4D97-AF65-F5344CB8AC3E}">
        <p14:creationId xmlns:p14="http://schemas.microsoft.com/office/powerpoint/2010/main" val="15526583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B2188802-8A4C-4084-BC05-481898CF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AIYA STUDIO / SYSTEM EVALUATION</a:t>
            </a:r>
          </a:p>
        </p:txBody>
      </p:sp>
      <p:sp>
        <p:nvSpPr>
          <p:cNvPr id="2" name="page-no">
            <a:extLst xmlns:a="http://schemas.openxmlformats.org/drawingml/2006/main">
              <a:ext uri="{FF2B5EF4-FFF2-40B4-BE49-F238E27FC236}">
                <a16:creationId xmlns:a16="http://schemas.microsoft.com/office/drawing/2014/main" id="{9975BEFD-5CBD-43F0-9AAB-C1A49125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9550"/>
            <a:ext cx="91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850" b="1">
                <a:solidFill>
                  <a:srgbClr val="D8DDE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50" b="1">
                <a:solidFill>
                  <a:srgbClr val="D8DDE3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602D273E-E210-467C-ACC7-EC46B318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4" name="kicker">
            <a:extLst xmlns:a="http://schemas.openxmlformats.org/drawingml/2006/main">
              <a:ext uri="{FF2B5EF4-FFF2-40B4-BE49-F238E27FC236}">
                <a16:creationId xmlns:a16="http://schemas.microsoft.com/office/drawing/2014/main" id="{D8B3DEEB-BFBC-49FB-A506-52D009A8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CORE CONCLUSION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3A49C44-228D-47C4-BB5F-4A62F8AC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925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925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核心结论：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2925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925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自动制片系统，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2925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925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不是普通分镜平台。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1EC02341-F44E-4D7C-AA40-C8487F01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88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88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评估口径必须从“能不能生成”转成“能不能把专业制片判断交给系统流程”。</a:t>
            </a:r>
          </a:p>
        </p:txBody>
      </p:sp>
      <p:sp>
        <p:nvSpPr>
          <p:cNvPr id="7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8B2CF3A4-FABE-49ED-A166-F6F784A1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9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3"/>
          </a:solidFill>
          <a:ln xmlns:a="http://schemas.openxmlformats.org/drawingml/2006/main" w="0">
            <a:solidFill>
              <a:srgbClr val="D8DDE3"/>
            </a:solidFill>
            <a:prstDash val="solid"/>
          </a:ln>
        </p:spPr>
      </p:sp>
      <p:sp>
        <p:nvSpPr>
          <p:cNvPr id="8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98F3A475-390E-481F-B0CC-96308E0C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2857500" cy="110490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7A2B4232-9D12-45FA-A8C0-B9442F16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143000"/>
            <a:ext cx="2514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系统完成度</a:t>
            </a:r>
          </a:p>
        </p:txBody>
      </p:sp>
      <p:sp>
        <p:nvSpPr>
          <p:cNvPr id="10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9906CEE7-4FE9-4ED9-838C-4A9D0603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352550"/>
            <a:ext cx="251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80-85%</a:t>
            </a:r>
          </a:p>
        </p:txBody>
      </p:sp>
      <p:sp>
        <p:nvSpPr>
          <p:cNvPr id="11" name="metric-body">
            <a:extLst xmlns:a="http://schemas.openxmlformats.org/drawingml/2006/main">
              <a:ext uri="{FF2B5EF4-FFF2-40B4-BE49-F238E27FC236}">
                <a16:creationId xmlns:a16="http://schemas.microsoft.com/office/drawing/2014/main" id="{9A7E60FE-0561-4B46-97AE-A053A95B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3355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15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15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内网部署方向下，核心生产链和 AGENT 设计已经成形。</a:t>
            </a:r>
          </a:p>
        </p:txBody>
      </p:sp>
      <p:sp>
        <p:nvSpPr>
          <p:cNvPr id="12" name="item-rule-56-0">
            <a:extLst xmlns:a="http://schemas.openxmlformats.org/drawingml/2006/main">
              <a:ext uri="{FF2B5EF4-FFF2-40B4-BE49-F238E27FC236}">
                <a16:creationId xmlns:a16="http://schemas.microsoft.com/office/drawing/2014/main" id="{477D3A7E-6262-403D-919D-7A105B09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13" name="item-index-56-0">
            <a:extLst xmlns:a="http://schemas.openxmlformats.org/drawingml/2006/main">
              <a:ext uri="{FF2B5EF4-FFF2-40B4-BE49-F238E27FC236}">
                <a16:creationId xmlns:a16="http://schemas.microsoft.com/office/drawing/2014/main" id="{12A56BF0-66C2-48B4-81E3-C404AB77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766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01</a:t>
            </a:r>
          </a:p>
        </p:txBody>
      </p:sp>
      <p:sp>
        <p:nvSpPr>
          <p:cNvPr id="14" name="item-title-56-0">
            <a:extLst xmlns:a="http://schemas.openxmlformats.org/drawingml/2006/main">
              <a:ext uri="{FF2B5EF4-FFF2-40B4-BE49-F238E27FC236}">
                <a16:creationId xmlns:a16="http://schemas.microsoft.com/office/drawing/2014/main" id="{81B9D496-EB12-4D00-BC04-6DF8B33B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480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价值不在按钮数量</a:t>
            </a:r>
          </a:p>
        </p:txBody>
      </p:sp>
      <p:sp>
        <p:nvSpPr>
          <p:cNvPr id="15" name="item-body-56-0">
            <a:extLst xmlns:a="http://schemas.openxmlformats.org/drawingml/2006/main">
              <a:ext uri="{FF2B5EF4-FFF2-40B4-BE49-F238E27FC236}">
                <a16:creationId xmlns:a16="http://schemas.microsoft.com/office/drawing/2014/main" id="{62B2D85C-61FA-4539-A122-D438A368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242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65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65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普通平台做的是工具集合；这里做的是从剧本、分镜、prompt 到生成队列的生产闭环。</a:t>
            </a:r>
          </a:p>
        </p:txBody>
      </p:sp>
      <p:sp>
        <p:nvSpPr>
          <p:cNvPr id="16" name="item-rule-56-1">
            <a:extLst xmlns:a="http://schemas.openxmlformats.org/drawingml/2006/main">
              <a:ext uri="{FF2B5EF4-FFF2-40B4-BE49-F238E27FC236}">
                <a16:creationId xmlns:a16="http://schemas.microsoft.com/office/drawing/2014/main" id="{4A954C25-8453-407A-8A46-39DA0F32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386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17" name="item-index-56-1">
            <a:extLst xmlns:a="http://schemas.openxmlformats.org/drawingml/2006/main">
              <a:ext uri="{FF2B5EF4-FFF2-40B4-BE49-F238E27FC236}">
                <a16:creationId xmlns:a16="http://schemas.microsoft.com/office/drawing/2014/main" id="{0FC6A4F7-7D98-4AEA-8743-7FAB0C33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719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18" name="item-title-56-1">
            <a:extLst xmlns:a="http://schemas.openxmlformats.org/drawingml/2006/main">
              <a:ext uri="{FF2B5EF4-FFF2-40B4-BE49-F238E27FC236}">
                <a16:creationId xmlns:a16="http://schemas.microsoft.com/office/drawing/2014/main" id="{82B0D251-83AD-4D84-9FB6-AC41A70F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4337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核心是认知封装</a:t>
            </a:r>
          </a:p>
        </p:txBody>
      </p:sp>
      <p:sp>
        <p:nvSpPr>
          <p:cNvPr id="19" name="item-body-56-1">
            <a:extLst xmlns:a="http://schemas.openxmlformats.org/drawingml/2006/main">
              <a:ext uri="{FF2B5EF4-FFF2-40B4-BE49-F238E27FC236}">
                <a16:creationId xmlns:a16="http://schemas.microsoft.com/office/drawing/2014/main" id="{A6E5BB75-52DD-4828-BD32-34CBE30E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196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65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65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镜头语言、构图、表演、资产引用、质量门禁被 AGENT 和流程承担，而不是丢给操作员。</a:t>
            </a:r>
          </a:p>
        </p:txBody>
      </p:sp>
      <p:sp>
        <p:nvSpPr>
          <p:cNvPr id="20" name="item-rule-56-2">
            <a:extLst xmlns:a="http://schemas.openxmlformats.org/drawingml/2006/main">
              <a:ext uri="{FF2B5EF4-FFF2-40B4-BE49-F238E27FC236}">
                <a16:creationId xmlns:a16="http://schemas.microsoft.com/office/drawing/2014/main" id="{4FD49037-99DB-4213-9986-2EB7049E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339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21" name="item-index-56-2">
            <a:extLst xmlns:a="http://schemas.openxmlformats.org/drawingml/2006/main">
              <a:ext uri="{FF2B5EF4-FFF2-40B4-BE49-F238E27FC236}">
                <a16:creationId xmlns:a16="http://schemas.microsoft.com/office/drawing/2014/main" id="{25C922F6-42BC-4772-BF2B-7CE6D97A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673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sp>
        <p:nvSpPr>
          <p:cNvPr id="22" name="item-title-56-2">
            <a:extLst xmlns:a="http://schemas.openxmlformats.org/drawingml/2006/main">
              <a:ext uri="{FF2B5EF4-FFF2-40B4-BE49-F238E27FC236}">
                <a16:creationId xmlns:a16="http://schemas.microsoft.com/office/drawing/2014/main" id="{8936846D-A77E-4E02-8743-3B75C29E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387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结果上限被系统抬高</a:t>
            </a:r>
          </a:p>
        </p:txBody>
      </p:sp>
      <p:sp>
        <p:nvSpPr>
          <p:cNvPr id="23" name="item-body-56-2">
            <a:extLst xmlns:a="http://schemas.openxmlformats.org/drawingml/2006/main">
              <a:ext uri="{FF2B5EF4-FFF2-40B4-BE49-F238E27FC236}">
                <a16:creationId xmlns:a16="http://schemas.microsoft.com/office/drawing/2014/main" id="{CBA1743F-79E3-4542-8427-4AE87E19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14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65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65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单人和语言模型对话通常受限于操作员认知；多 AGENT 讨论会引入反驳、补缺和迭代。</a:t>
            </a:r>
          </a:p>
        </p:txBody>
      </p:sp>
      <p:sp>
        <p:nvSpPr>
          <p:cNvPr id="24" name="item-rule-650-0">
            <a:extLst xmlns:a="http://schemas.openxmlformats.org/drawingml/2006/main">
              <a:ext uri="{FF2B5EF4-FFF2-40B4-BE49-F238E27FC236}">
                <a16:creationId xmlns:a16="http://schemas.microsoft.com/office/drawing/2014/main" id="{04F779F2-E83A-49A8-AAA9-212C2F4C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25" name="item-index-650-0">
            <a:extLst xmlns:a="http://schemas.openxmlformats.org/drawingml/2006/main">
              <a:ext uri="{FF2B5EF4-FFF2-40B4-BE49-F238E27FC236}">
                <a16:creationId xmlns:a16="http://schemas.microsoft.com/office/drawing/2014/main" id="{348037EB-A29A-4700-86D5-D0DF595B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766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04</a:t>
            </a:r>
          </a:p>
        </p:txBody>
      </p:sp>
      <p:sp>
        <p:nvSpPr>
          <p:cNvPr id="26" name="item-title-650-0">
            <a:extLst xmlns:a="http://schemas.openxmlformats.org/drawingml/2006/main">
              <a:ext uri="{FF2B5EF4-FFF2-40B4-BE49-F238E27FC236}">
                <a16:creationId xmlns:a16="http://schemas.microsoft.com/office/drawing/2014/main" id="{FCBF277B-1739-4BAA-B775-12C6122E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480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适合企业内部部署</a:t>
            </a:r>
          </a:p>
        </p:txBody>
      </p:sp>
      <p:sp>
        <p:nvSpPr>
          <p:cNvPr id="27" name="item-body-650-0">
            <a:extLst xmlns:a="http://schemas.openxmlformats.org/drawingml/2006/main">
              <a:ext uri="{FF2B5EF4-FFF2-40B4-BE49-F238E27FC236}">
                <a16:creationId xmlns:a16="http://schemas.microsoft.com/office/drawing/2014/main" id="{96BCE9DF-46C2-446C-AA38-687C05B2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242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65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65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局域网使用、内部资产沉淀、流程标准化，比外部 SaaS 更贴近当前方向。</a:t>
            </a:r>
          </a:p>
        </p:txBody>
      </p:sp>
      <p:sp>
        <p:nvSpPr>
          <p:cNvPr id="28" name="item-rule-650-1">
            <a:extLst xmlns:a="http://schemas.openxmlformats.org/drawingml/2006/main">
              <a:ext uri="{FF2B5EF4-FFF2-40B4-BE49-F238E27FC236}">
                <a16:creationId xmlns:a16="http://schemas.microsoft.com/office/drawing/2014/main" id="{6D7D37B9-F8A8-4E91-8699-0D4C6449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386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29" name="item-index-650-1">
            <a:extLst xmlns:a="http://schemas.openxmlformats.org/drawingml/2006/main">
              <a:ext uri="{FF2B5EF4-FFF2-40B4-BE49-F238E27FC236}">
                <a16:creationId xmlns:a16="http://schemas.microsoft.com/office/drawing/2014/main" id="{B8308862-8FA0-4F3C-BF00-2805918A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719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05</a:t>
            </a:r>
          </a:p>
        </p:txBody>
      </p:sp>
      <p:sp>
        <p:nvSpPr>
          <p:cNvPr id="30" name="item-title-650-1">
            <a:extLst xmlns:a="http://schemas.openxmlformats.org/drawingml/2006/main">
              <a:ext uri="{FF2B5EF4-FFF2-40B4-BE49-F238E27FC236}">
                <a16:creationId xmlns:a16="http://schemas.microsoft.com/office/drawing/2014/main" id="{3E4FAD01-964F-491F-A693-5F9A4A52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4337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不是无限画布逻辑</a:t>
            </a:r>
          </a:p>
        </p:txBody>
      </p:sp>
      <p:sp>
        <p:nvSpPr>
          <p:cNvPr id="31" name="item-body-650-1">
            <a:extLst xmlns:a="http://schemas.openxmlformats.org/drawingml/2006/main">
              <a:ext uri="{FF2B5EF4-FFF2-40B4-BE49-F238E27FC236}">
                <a16:creationId xmlns:a16="http://schemas.microsoft.com/office/drawing/2014/main" id="{88CD3E5A-A8B8-4B96-8E22-1A9B064C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196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65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65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无限画布要人逐个拖动、判断和整理；本系统把生产链自动化到 SHOT 级。</a:t>
            </a:r>
          </a:p>
        </p:txBody>
      </p:sp>
      <p:sp>
        <p:nvSpPr>
          <p:cNvPr id="32" name="item-rule-650-2">
            <a:extLst xmlns:a="http://schemas.openxmlformats.org/drawingml/2006/main">
              <a:ext uri="{FF2B5EF4-FFF2-40B4-BE49-F238E27FC236}">
                <a16:creationId xmlns:a16="http://schemas.microsoft.com/office/drawing/2014/main" id="{B487CC5E-DE4A-4877-91DF-101B1156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339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33" name="item-index-650-2">
            <a:extLst xmlns:a="http://schemas.openxmlformats.org/drawingml/2006/main">
              <a:ext uri="{FF2B5EF4-FFF2-40B4-BE49-F238E27FC236}">
                <a16:creationId xmlns:a16="http://schemas.microsoft.com/office/drawing/2014/main" id="{CD9CF627-CE16-4945-BD14-ECD37066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673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06</a:t>
            </a:r>
          </a:p>
        </p:txBody>
      </p:sp>
      <p:sp>
        <p:nvSpPr>
          <p:cNvPr id="34" name="item-title-650-2">
            <a:extLst xmlns:a="http://schemas.openxmlformats.org/drawingml/2006/main">
              <a:ext uri="{FF2B5EF4-FFF2-40B4-BE49-F238E27FC236}">
                <a16:creationId xmlns:a16="http://schemas.microsoft.com/office/drawing/2014/main" id="{611FF5D2-40BB-46F4-B77D-8601D240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387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报价不能按普通平台</a:t>
            </a:r>
          </a:p>
        </p:txBody>
      </p:sp>
      <p:sp>
        <p:nvSpPr>
          <p:cNvPr id="35" name="item-body-650-2">
            <a:extLst xmlns:a="http://schemas.openxmlformats.org/drawingml/2006/main">
              <a:ext uri="{FF2B5EF4-FFF2-40B4-BE49-F238E27FC236}">
                <a16:creationId xmlns:a16="http://schemas.microsoft.com/office/drawing/2014/main" id="{D4DE518B-0BE2-4E25-8D69-59ED4A9E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14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65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65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应按内部 AI 制片系统、多 AGENT 工作流和高级模型工程化封装估价。</a:t>
            </a:r>
          </a:p>
        </p:txBody>
      </p:sp>
      <p:sp>
        <p:nvSpPr>
          <p:cNvPr id="3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954CD1E-BDC6-4710-9C75-C1685455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37" name="footer-note">
            <a:extLst xmlns:a="http://schemas.openxmlformats.org/drawingml/2006/main">
              <a:ext uri="{FF2B5EF4-FFF2-40B4-BE49-F238E27FC236}">
                <a16:creationId xmlns:a16="http://schemas.microsoft.com/office/drawing/2014/main" id="{1411D7F3-5E4B-4E05-B07B-82F72A89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A94A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8A94A0"/>
                </a:solidFill>
                <a:latin typeface="Microsoft YaHei UI"/>
                <a:ea typeface="Microsoft YaHei UI"/>
                <a:cs typeface="Microsoft YaHei UI"/>
              </a:rPr>
              <a:t>企业内部 AI 制片工作流系统评估 / 私有化部署口径</a:t>
            </a:r>
          </a:p>
        </p:txBody>
      </p:sp>
      <p:sp>
        <p:nvSpPr>
          <p:cNvPr id="38" name="footer-stack">
            <a:extLst xmlns:a="http://schemas.openxmlformats.org/drawingml/2006/main">
              <a:ext uri="{FF2B5EF4-FFF2-40B4-BE49-F238E27FC236}">
                <a16:creationId xmlns:a16="http://schemas.microsoft.com/office/drawing/2014/main" id="{4FBE7C37-5BDF-4280-B92D-52CC1D67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534150"/>
            <a:ext cx="422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8A94A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8A94A0"/>
                </a:solidFill>
                <a:latin typeface="Microsoft YaHei UI"/>
                <a:ea typeface="Microsoft YaHei UI"/>
                <a:cs typeface="Microsoft YaHei UI"/>
              </a:rPr>
              <a:t>GPT-Image 2 Edit + Dreamina / Seedance 2.0 + Multi AGENT Workflow</a:t>
            </a:r>
          </a:p>
        </p:txBody>
      </p:sp>
    </p:spTree>
    <p:extLst>
      <p:ext uri="{BB962C8B-B14F-4D97-AF65-F5344CB8AC3E}">
        <p14:creationId xmlns:p14="http://schemas.microsoft.com/office/powerpoint/2010/main" val="15468676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6D8EC4A6-6D16-442E-B931-ABC9F1B5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AIYA STUDIO / SYSTEM EVALUATION</a:t>
            </a:r>
          </a:p>
        </p:txBody>
      </p:sp>
      <p:sp>
        <p:nvSpPr>
          <p:cNvPr id="2" name="page-no">
            <a:extLst xmlns:a="http://schemas.openxmlformats.org/drawingml/2006/main">
              <a:ext uri="{FF2B5EF4-FFF2-40B4-BE49-F238E27FC236}">
                <a16:creationId xmlns:a16="http://schemas.microsoft.com/office/drawing/2014/main" id="{56723810-DDDA-4B37-A122-75608434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9550"/>
            <a:ext cx="91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850" b="1">
                <a:solidFill>
                  <a:srgbClr val="D8DDE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50" b="1">
                <a:solidFill>
                  <a:srgbClr val="D8DDE3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EDC93021-3A25-4734-BCF3-8F7FA8E3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4" name="kicker">
            <a:extLst xmlns:a="http://schemas.openxmlformats.org/drawingml/2006/main">
              <a:ext uri="{FF2B5EF4-FFF2-40B4-BE49-F238E27FC236}">
                <a16:creationId xmlns:a16="http://schemas.microsoft.com/office/drawing/2014/main" id="{ED8B18C0-C05B-4F4F-8076-F78A15CC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SYSTEM INTELLIGENCE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702D9B1-9FDD-481F-A308-2BDE496F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075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系统智能评估：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075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多 AGENT 生产判断网络。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17496F6F-88BD-455D-AF88-03D2FFC9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88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88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真正要评估的是 AGENT 是否能在讨论阶段持续提出、反驳、修复并收敛，而不是只会生成一段 prompt。</a:t>
            </a:r>
          </a:p>
        </p:txBody>
      </p:sp>
      <p:sp>
        <p:nvSpPr>
          <p:cNvPr id="7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7E09B8B6-8E04-42CC-8976-23A2E988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14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3"/>
          </a:solidFill>
          <a:ln xmlns:a="http://schemas.openxmlformats.org/drawingml/2006/main" w="0">
            <a:solidFill>
              <a:srgbClr val="D8DDE3"/>
            </a:solidFill>
            <a:prstDash val="solid"/>
          </a:ln>
        </p:spPr>
      </p:sp>
      <p:sp>
        <p:nvSpPr>
          <p:cNvPr id="8" name="agent-card">
            <a:extLst xmlns:a="http://schemas.openxmlformats.org/drawingml/2006/main">
              <a:ext uri="{FF2B5EF4-FFF2-40B4-BE49-F238E27FC236}">
                <a16:creationId xmlns:a16="http://schemas.microsoft.com/office/drawing/2014/main" id="{A8DEB216-D66C-4E8E-A95B-20CFE457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2514600" cy="1200150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E9F8FB"/>
          </a:solidFill>
          <a:ln xmlns:a="http://schemas.openxmlformats.org/drawingml/2006/main" w="9525">
            <a:solidFill>
              <a:srgbClr val="20A9C9"/>
            </a:solidFill>
            <a:prstDash val="solid"/>
          </a:ln>
        </p:spPr>
      </p:sp>
      <p:sp>
        <p:nvSpPr>
          <p:cNvPr id="9" name="agent-no">
            <a:extLst xmlns:a="http://schemas.openxmlformats.org/drawingml/2006/main">
              <a:ext uri="{FF2B5EF4-FFF2-40B4-BE49-F238E27FC236}">
                <a16:creationId xmlns:a16="http://schemas.microsoft.com/office/drawing/2014/main" id="{1F7EEE0F-4045-46C6-A6C0-320C13DF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01</a:t>
            </a:r>
          </a:p>
        </p:txBody>
      </p:sp>
      <p:sp>
        <p:nvSpPr>
          <p:cNvPr id="10" name="agent-title">
            <a:extLst xmlns:a="http://schemas.openxmlformats.org/drawingml/2006/main">
              <a:ext uri="{FF2B5EF4-FFF2-40B4-BE49-F238E27FC236}">
                <a16:creationId xmlns:a16="http://schemas.microsoft.com/office/drawing/2014/main" id="{1488334C-EC82-44C3-92AD-A45EB73D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766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Story Director</a:t>
            </a:r>
          </a:p>
        </p:txBody>
      </p:sp>
      <p:sp>
        <p:nvSpPr>
          <p:cNvPr id="11" name="agent-body">
            <a:extLst xmlns:a="http://schemas.openxmlformats.org/drawingml/2006/main">
              <a:ext uri="{FF2B5EF4-FFF2-40B4-BE49-F238E27FC236}">
                <a16:creationId xmlns:a16="http://schemas.microsoft.com/office/drawing/2014/main" id="{09183383-8607-48CF-9FBE-6FD98253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2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2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负责故事结构、冲突推进、角色动机和叙事节奏，避免剧本只停留在用户原始描述。</a:t>
            </a:r>
          </a:p>
        </p:txBody>
      </p:sp>
      <p:sp>
        <p:nvSpPr>
          <p:cNvPr id="12" name="agent-card">
            <a:extLst xmlns:a="http://schemas.openxmlformats.org/drawingml/2006/main">
              <a:ext uri="{FF2B5EF4-FFF2-40B4-BE49-F238E27FC236}">
                <a16:creationId xmlns:a16="http://schemas.microsoft.com/office/drawing/2014/main" id="{F7A0D07D-15E2-44E8-B659-0558F63B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43250"/>
            <a:ext cx="2514600" cy="1200150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agent-no">
            <a:extLst xmlns:a="http://schemas.openxmlformats.org/drawingml/2006/main">
              <a:ext uri="{FF2B5EF4-FFF2-40B4-BE49-F238E27FC236}">
                <a16:creationId xmlns:a16="http://schemas.microsoft.com/office/drawing/2014/main" id="{EE1FBAA9-28FE-4542-B8D6-D7F60EFA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76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14" name="agent-title">
            <a:extLst xmlns:a="http://schemas.openxmlformats.org/drawingml/2006/main">
              <a:ext uri="{FF2B5EF4-FFF2-40B4-BE49-F238E27FC236}">
                <a16:creationId xmlns:a16="http://schemas.microsoft.com/office/drawing/2014/main" id="{DF0E191E-4A6A-4424-8B39-B02E2B1A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2766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Visual Director</a:t>
            </a:r>
          </a:p>
        </p:txBody>
      </p:sp>
      <p:sp>
        <p:nvSpPr>
          <p:cNvPr id="15" name="agent-body">
            <a:extLst xmlns:a="http://schemas.openxmlformats.org/drawingml/2006/main">
              <a:ext uri="{FF2B5EF4-FFF2-40B4-BE49-F238E27FC236}">
                <a16:creationId xmlns:a16="http://schemas.microsoft.com/office/drawing/2014/main" id="{1873F722-2AE6-4BF3-967C-22622B7C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58140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2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2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负责画面语言、构图、色彩、空间关系和镜头可视化，把文字转成可执行视觉判断。</a:t>
            </a:r>
          </a:p>
        </p:txBody>
      </p:sp>
      <p:sp>
        <p:nvSpPr>
          <p:cNvPr id="16" name="agent-card">
            <a:extLst xmlns:a="http://schemas.openxmlformats.org/drawingml/2006/main">
              <a:ext uri="{FF2B5EF4-FFF2-40B4-BE49-F238E27FC236}">
                <a16:creationId xmlns:a16="http://schemas.microsoft.com/office/drawing/2014/main" id="{58C3088C-F80F-436E-8408-BC76906C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2514600" cy="1200150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agent-no">
            <a:extLst xmlns:a="http://schemas.openxmlformats.org/drawingml/2006/main">
              <a:ext uri="{FF2B5EF4-FFF2-40B4-BE49-F238E27FC236}">
                <a16:creationId xmlns:a16="http://schemas.microsoft.com/office/drawing/2014/main" id="{FFDADF17-DE71-4DCC-96FB-F8B6C1AB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76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sp>
        <p:nvSpPr>
          <p:cNvPr id="18" name="agent-title">
            <a:extLst xmlns:a="http://schemas.openxmlformats.org/drawingml/2006/main">
              <a:ext uri="{FF2B5EF4-FFF2-40B4-BE49-F238E27FC236}">
                <a16:creationId xmlns:a16="http://schemas.microsoft.com/office/drawing/2014/main" id="{62508F4B-6043-477E-A79B-FCF06E0D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766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Performance Director</a:t>
            </a:r>
          </a:p>
        </p:txBody>
      </p:sp>
      <p:sp>
        <p:nvSpPr>
          <p:cNvPr id="19" name="agent-body">
            <a:extLst xmlns:a="http://schemas.openxmlformats.org/drawingml/2006/main">
              <a:ext uri="{FF2B5EF4-FFF2-40B4-BE49-F238E27FC236}">
                <a16:creationId xmlns:a16="http://schemas.microsoft.com/office/drawing/2014/main" id="{C99E4D4E-9C0D-4C3F-A42C-22E32AFE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8140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2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2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负责表演、停顿、动作、情绪递进，让角色不是“站着说台词”。</a:t>
            </a:r>
          </a:p>
        </p:txBody>
      </p:sp>
      <p:sp>
        <p:nvSpPr>
          <p:cNvPr id="20" name="agent-card">
            <a:extLst xmlns:a="http://schemas.openxmlformats.org/drawingml/2006/main">
              <a:ext uri="{FF2B5EF4-FFF2-40B4-BE49-F238E27FC236}">
                <a16:creationId xmlns:a16="http://schemas.microsoft.com/office/drawing/2014/main" id="{4915F40C-F2D8-4590-9D3A-18ECD336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43250"/>
            <a:ext cx="2514600" cy="1200150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agent-no">
            <a:extLst xmlns:a="http://schemas.openxmlformats.org/drawingml/2006/main">
              <a:ext uri="{FF2B5EF4-FFF2-40B4-BE49-F238E27FC236}">
                <a16:creationId xmlns:a16="http://schemas.microsoft.com/office/drawing/2014/main" id="{165B941E-369F-4152-B034-D90724D3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76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04</a:t>
            </a:r>
          </a:p>
        </p:txBody>
      </p:sp>
      <p:sp>
        <p:nvSpPr>
          <p:cNvPr id="22" name="agent-title">
            <a:extLst xmlns:a="http://schemas.openxmlformats.org/drawingml/2006/main">
              <a:ext uri="{FF2B5EF4-FFF2-40B4-BE49-F238E27FC236}">
                <a16:creationId xmlns:a16="http://schemas.microsoft.com/office/drawing/2014/main" id="{B55BE0E2-86C5-4655-9872-EACA9A2A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766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Actor AGENT</a:t>
            </a:r>
          </a:p>
        </p:txBody>
      </p:sp>
      <p:sp>
        <p:nvSpPr>
          <p:cNvPr id="23" name="agent-body">
            <a:extLst xmlns:a="http://schemas.openxmlformats.org/drawingml/2006/main">
              <a:ext uri="{FF2B5EF4-FFF2-40B4-BE49-F238E27FC236}">
                <a16:creationId xmlns:a16="http://schemas.microsoft.com/office/drawing/2014/main" id="{BE629EA3-F2B7-434C-B528-45AEE765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8140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2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2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带着角色身份参与讨论，补充人物反应、心理边界和表演细节。</a:t>
            </a:r>
          </a:p>
        </p:txBody>
      </p:sp>
      <p:sp>
        <p:nvSpPr>
          <p:cNvPr id="24" name="agent-card">
            <a:extLst xmlns:a="http://schemas.openxmlformats.org/drawingml/2006/main">
              <a:ext uri="{FF2B5EF4-FFF2-40B4-BE49-F238E27FC236}">
                <a16:creationId xmlns:a16="http://schemas.microsoft.com/office/drawing/2014/main" id="{3C9721DE-9F81-4A93-922C-B7444C31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2514600" cy="1200150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agent-no">
            <a:extLst xmlns:a="http://schemas.openxmlformats.org/drawingml/2006/main">
              <a:ext uri="{FF2B5EF4-FFF2-40B4-BE49-F238E27FC236}">
                <a16:creationId xmlns:a16="http://schemas.microsoft.com/office/drawing/2014/main" id="{8BADC5D0-BCD1-4668-90F5-2C630CD3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05</a:t>
            </a:r>
          </a:p>
        </p:txBody>
      </p:sp>
      <p:sp>
        <p:nvSpPr>
          <p:cNvPr id="26" name="agent-title">
            <a:extLst xmlns:a="http://schemas.openxmlformats.org/drawingml/2006/main">
              <a:ext uri="{FF2B5EF4-FFF2-40B4-BE49-F238E27FC236}">
                <a16:creationId xmlns:a16="http://schemas.microsoft.com/office/drawing/2014/main" id="{5F617173-6C41-4EE4-840B-156D23F0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05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HIDE</a:t>
            </a:r>
          </a:p>
        </p:txBody>
      </p:sp>
      <p:sp>
        <p:nvSpPr>
          <p:cNvPr id="27" name="agent-body">
            <a:extLst xmlns:a="http://schemas.openxmlformats.org/drawingml/2006/main">
              <a:ext uri="{FF2B5EF4-FFF2-40B4-BE49-F238E27FC236}">
                <a16:creationId xmlns:a16="http://schemas.microsoft.com/office/drawing/2014/main" id="{DD1896EF-6425-4A25-92DE-216BF292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2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2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作为决策门禁和用户意图承接层，把确认、反驳、修正转成流程状态。</a:t>
            </a:r>
          </a:p>
        </p:txBody>
      </p:sp>
      <p:sp>
        <p:nvSpPr>
          <p:cNvPr id="28" name="agent-card">
            <a:extLst xmlns:a="http://schemas.openxmlformats.org/drawingml/2006/main">
              <a:ext uri="{FF2B5EF4-FFF2-40B4-BE49-F238E27FC236}">
                <a16:creationId xmlns:a16="http://schemas.microsoft.com/office/drawing/2014/main" id="{88D1647D-9FBE-423C-9700-10A025F1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72000"/>
            <a:ext cx="2514600" cy="1200150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9" name="agent-no">
            <a:extLst xmlns:a="http://schemas.openxmlformats.org/drawingml/2006/main">
              <a:ext uri="{FF2B5EF4-FFF2-40B4-BE49-F238E27FC236}">
                <a16:creationId xmlns:a16="http://schemas.microsoft.com/office/drawing/2014/main" id="{AA967DA9-7C59-415D-B3BF-575F2EB4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7053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06</a:t>
            </a:r>
          </a:p>
        </p:txBody>
      </p:sp>
      <p:sp>
        <p:nvSpPr>
          <p:cNvPr id="30" name="agent-title">
            <a:extLst xmlns:a="http://schemas.openxmlformats.org/drawingml/2006/main">
              <a:ext uri="{FF2B5EF4-FFF2-40B4-BE49-F238E27FC236}">
                <a16:creationId xmlns:a16="http://schemas.microsoft.com/office/drawing/2014/main" id="{E277583B-3EFA-44A5-A1E5-6DAE40AA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05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Storyboarder</a:t>
            </a:r>
          </a:p>
        </p:txBody>
      </p:sp>
      <p:sp>
        <p:nvSpPr>
          <p:cNvPr id="31" name="agent-body">
            <a:extLst xmlns:a="http://schemas.openxmlformats.org/drawingml/2006/main">
              <a:ext uri="{FF2B5EF4-FFF2-40B4-BE49-F238E27FC236}">
                <a16:creationId xmlns:a16="http://schemas.microsoft.com/office/drawing/2014/main" id="{BED5EC04-00F5-4AAA-898E-5E4EB986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01015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2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2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把讨论结果拆成 SHOT，写入镜头目标、标注和下游生成要求。</a:t>
            </a:r>
          </a:p>
        </p:txBody>
      </p:sp>
      <p:sp>
        <p:nvSpPr>
          <p:cNvPr id="32" name="agent-card">
            <a:extLst xmlns:a="http://schemas.openxmlformats.org/drawingml/2006/main">
              <a:ext uri="{FF2B5EF4-FFF2-40B4-BE49-F238E27FC236}">
                <a16:creationId xmlns:a16="http://schemas.microsoft.com/office/drawing/2014/main" id="{518E4FBF-B811-493E-9C77-F355FF48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72000"/>
            <a:ext cx="2514600" cy="1200150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3" name="agent-no">
            <a:extLst xmlns:a="http://schemas.openxmlformats.org/drawingml/2006/main">
              <a:ext uri="{FF2B5EF4-FFF2-40B4-BE49-F238E27FC236}">
                <a16:creationId xmlns:a16="http://schemas.microsoft.com/office/drawing/2014/main" id="{88D7CA81-8DEF-4524-94E0-61F52DFD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053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07</a:t>
            </a:r>
          </a:p>
        </p:txBody>
      </p:sp>
      <p:sp>
        <p:nvSpPr>
          <p:cNvPr id="34" name="agent-title">
            <a:extLst xmlns:a="http://schemas.openxmlformats.org/drawingml/2006/main">
              <a:ext uri="{FF2B5EF4-FFF2-40B4-BE49-F238E27FC236}">
                <a16:creationId xmlns:a16="http://schemas.microsoft.com/office/drawing/2014/main" id="{1E5C365F-A692-47A3-BD3B-BAE654B4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705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Lighting</a:t>
            </a:r>
          </a:p>
        </p:txBody>
      </p:sp>
      <p:sp>
        <p:nvSpPr>
          <p:cNvPr id="35" name="agent-body">
            <a:extLst xmlns:a="http://schemas.openxmlformats.org/drawingml/2006/main">
              <a:ext uri="{FF2B5EF4-FFF2-40B4-BE49-F238E27FC236}">
                <a16:creationId xmlns:a16="http://schemas.microsoft.com/office/drawing/2014/main" id="{551D315A-9115-4B26-8237-2180DB53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1015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2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2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补足光线、氛围、空间层次，避免画面只有主体没有电影感。</a:t>
            </a:r>
          </a:p>
        </p:txBody>
      </p:sp>
      <p:sp>
        <p:nvSpPr>
          <p:cNvPr id="36" name="agent-card">
            <a:extLst xmlns:a="http://schemas.openxmlformats.org/drawingml/2006/main">
              <a:ext uri="{FF2B5EF4-FFF2-40B4-BE49-F238E27FC236}">
                <a16:creationId xmlns:a16="http://schemas.microsoft.com/office/drawing/2014/main" id="{F71598F1-6BB9-44E5-B136-5A880B9D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572000"/>
            <a:ext cx="2514600" cy="1200150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7" name="agent-no">
            <a:extLst xmlns:a="http://schemas.openxmlformats.org/drawingml/2006/main">
              <a:ext uri="{FF2B5EF4-FFF2-40B4-BE49-F238E27FC236}">
                <a16:creationId xmlns:a16="http://schemas.microsoft.com/office/drawing/2014/main" id="{329B8B4D-D4BA-487D-AF89-D7AC25B1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053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08</a:t>
            </a:r>
          </a:p>
        </p:txBody>
      </p:sp>
      <p:sp>
        <p:nvSpPr>
          <p:cNvPr id="38" name="agent-title">
            <a:extLst xmlns:a="http://schemas.openxmlformats.org/drawingml/2006/main">
              <a:ext uri="{FF2B5EF4-FFF2-40B4-BE49-F238E27FC236}">
                <a16:creationId xmlns:a16="http://schemas.microsoft.com/office/drawing/2014/main" id="{A36CAB36-43DC-4154-BB6E-30FD1A4E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705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Prompt Engineer</a:t>
            </a:r>
          </a:p>
        </p:txBody>
      </p:sp>
      <p:sp>
        <p:nvSpPr>
          <p:cNvPr id="39" name="agent-body">
            <a:extLst xmlns:a="http://schemas.openxmlformats.org/drawingml/2006/main">
              <a:ext uri="{FF2B5EF4-FFF2-40B4-BE49-F238E27FC236}">
                <a16:creationId xmlns:a16="http://schemas.microsoft.com/office/drawing/2014/main" id="{293E7861-4425-49FF-A273-12A0F462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01015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2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2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把资产、参考、镜头目标、质量约束封装成 SHOT 级 prompt。</a:t>
            </a:r>
          </a:p>
        </p:txBody>
      </p:sp>
      <p:sp>
        <p:nvSpPr>
          <p:cNvPr id="4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33E146F-C946-4BF0-93F0-D2B632CB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41" name="footer-note">
            <a:extLst xmlns:a="http://schemas.openxmlformats.org/drawingml/2006/main">
              <a:ext uri="{FF2B5EF4-FFF2-40B4-BE49-F238E27FC236}">
                <a16:creationId xmlns:a16="http://schemas.microsoft.com/office/drawing/2014/main" id="{A41E57EC-BE58-4F99-8057-4BEC89A9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A94A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8A94A0"/>
                </a:solidFill>
                <a:latin typeface="Microsoft YaHei UI"/>
                <a:ea typeface="Microsoft YaHei UI"/>
                <a:cs typeface="Microsoft YaHei UI"/>
              </a:rPr>
              <a:t>智能评估重点：多角色判断互相校正，而不是单模型一次性输出</a:t>
            </a:r>
          </a:p>
        </p:txBody>
      </p:sp>
      <p:sp>
        <p:nvSpPr>
          <p:cNvPr id="42" name="footer-stack">
            <a:extLst xmlns:a="http://schemas.openxmlformats.org/drawingml/2006/main">
              <a:ext uri="{FF2B5EF4-FFF2-40B4-BE49-F238E27FC236}">
                <a16:creationId xmlns:a16="http://schemas.microsoft.com/office/drawing/2014/main" id="{91B9187D-CD0D-4BD4-9FE8-1FA8C7EB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534150"/>
            <a:ext cx="422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8A94A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8A94A0"/>
                </a:solidFill>
                <a:latin typeface="Microsoft YaHei UI"/>
                <a:ea typeface="Microsoft YaHei UI"/>
                <a:cs typeface="Microsoft YaHei UI"/>
              </a:rPr>
              <a:t>GPT-Image 2 Edit + Dreamina / Seedance 2.0 + Multi AGENT Workflow</a:t>
            </a:r>
          </a:p>
        </p:txBody>
      </p:sp>
    </p:spTree>
    <p:extLst>
      <p:ext uri="{BB962C8B-B14F-4D97-AF65-F5344CB8AC3E}">
        <p14:creationId xmlns:p14="http://schemas.microsoft.com/office/powerpoint/2010/main" val="17574043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EB68629B-1BB2-45AE-8062-3D6B9F21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AIYA STUDIO / SYSTEM EVALUATION</a:t>
            </a:r>
          </a:p>
        </p:txBody>
      </p:sp>
      <p:sp>
        <p:nvSpPr>
          <p:cNvPr id="2" name="page-no">
            <a:extLst xmlns:a="http://schemas.openxmlformats.org/drawingml/2006/main">
              <a:ext uri="{FF2B5EF4-FFF2-40B4-BE49-F238E27FC236}">
                <a16:creationId xmlns:a16="http://schemas.microsoft.com/office/drawing/2014/main" id="{328E8358-2299-4B85-9B44-2259D306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9550"/>
            <a:ext cx="91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850" b="1">
                <a:solidFill>
                  <a:srgbClr val="D8DDE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50" b="1">
                <a:solidFill>
                  <a:srgbClr val="D8DDE3"/>
                </a:solidFill>
                <a:latin typeface="Microsoft YaHei UI"/>
                <a:ea typeface="Microsoft YaHei UI"/>
                <a:cs typeface="Microsoft YaHei UI"/>
              </a:rPr>
              <a:t>04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21B7D63E-1D2F-4BA0-8543-4460E6BD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4" name="kicker">
            <a:extLst xmlns:a="http://schemas.openxmlformats.org/drawingml/2006/main">
              <a:ext uri="{FF2B5EF4-FFF2-40B4-BE49-F238E27FC236}">
                <a16:creationId xmlns:a16="http://schemas.microsoft.com/office/drawing/2014/main" id="{F93A76DD-615F-4AA6-8426-2E52A9CB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AGENT INTERACTION LOOP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A027E9C-D8C8-4732-92DA-C5DBB154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0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讨论阶段能力：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0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建议、反驳、收敛、修复、门禁、生产。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FFEFB6F0-AC37-451B-8A65-75608C68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88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88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这套链路的关键，不是 AGENT 名字多，而是每个角色在生产链里有职责、边界和下游交付物。</a:t>
            </a:r>
          </a:p>
        </p:txBody>
      </p:sp>
      <p:sp>
        <p:nvSpPr>
          <p:cNvPr id="7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2BC8751E-B845-4332-9138-DAA0692A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14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3"/>
          </a:solidFill>
          <a:ln xmlns:a="http://schemas.openxmlformats.org/drawingml/2006/main" w="0">
            <a:solidFill>
              <a:srgbClr val="D8DDE3"/>
            </a:solidFill>
            <a:prstDash val="solid"/>
          </a:ln>
        </p:spPr>
      </p:sp>
      <p:sp>
        <p:nvSpPr>
          <p:cNvPr id="8" name="process-cell">
            <a:extLst xmlns:a="http://schemas.openxmlformats.org/drawingml/2006/main">
              <a:ext uri="{FF2B5EF4-FFF2-40B4-BE49-F238E27FC236}">
                <a16:creationId xmlns:a16="http://schemas.microsoft.com/office/drawing/2014/main" id="{E5C6CF15-9B16-4D2D-84F5-9C839D03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1682750" cy="1381125"/>
          </a:xfrm>
          <a:prstGeom xmlns:a="http://schemas.openxmlformats.org/drawingml/2006/main" prst="roundRect">
            <a:avLst>
              <a:gd name="adj" fmla="val 1379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process-no">
            <a:extLst xmlns:a="http://schemas.openxmlformats.org/drawingml/2006/main">
              <a:ext uri="{FF2B5EF4-FFF2-40B4-BE49-F238E27FC236}">
                <a16:creationId xmlns:a16="http://schemas.microsoft.com/office/drawing/2014/main" id="{35258E0A-919A-4ACA-A233-F474CB48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01</a:t>
            </a:r>
          </a:p>
        </p:txBody>
      </p:sp>
      <p:sp>
        <p:nvSpPr>
          <p:cNvPr id="10" name="process-title">
            <a:extLst xmlns:a="http://schemas.openxmlformats.org/drawingml/2006/main">
              <a:ext uri="{FF2B5EF4-FFF2-40B4-BE49-F238E27FC236}">
                <a16:creationId xmlns:a16="http://schemas.microsoft.com/office/drawing/2014/main" id="{5EAAD45B-F7B8-4ACB-96D6-B7FB02C2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141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建议</a:t>
            </a:r>
          </a:p>
        </p:txBody>
      </p:sp>
      <p:sp>
        <p:nvSpPr>
          <p:cNvPr id="11" name="process-body">
            <a:extLst xmlns:a="http://schemas.openxmlformats.org/drawingml/2006/main">
              <a:ext uri="{FF2B5EF4-FFF2-40B4-BE49-F238E27FC236}">
                <a16:creationId xmlns:a16="http://schemas.microsoft.com/office/drawing/2014/main" id="{4771905B-559A-40D5-BD30-48C568B3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1416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6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Story / Visual / Performance 从不同维度提出剧情、画面和表演建议。</a:t>
            </a:r>
          </a:p>
        </p:txBody>
      </p:sp>
      <p:sp>
        <p:nvSpPr>
          <p:cNvPr id="12" name="process-cell">
            <a:extLst xmlns:a="http://schemas.openxmlformats.org/drawingml/2006/main">
              <a:ext uri="{FF2B5EF4-FFF2-40B4-BE49-F238E27FC236}">
                <a16:creationId xmlns:a16="http://schemas.microsoft.com/office/drawing/2014/main" id="{D03B8A08-5068-4A87-AACC-E35AAD8F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0450" y="3143250"/>
            <a:ext cx="1682750" cy="1381125"/>
          </a:xfrm>
          <a:prstGeom xmlns:a="http://schemas.openxmlformats.org/drawingml/2006/main" prst="roundRect">
            <a:avLst>
              <a:gd name="adj" fmla="val 1379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process-no">
            <a:extLst xmlns:a="http://schemas.openxmlformats.org/drawingml/2006/main">
              <a:ext uri="{FF2B5EF4-FFF2-40B4-BE49-F238E27FC236}">
                <a16:creationId xmlns:a16="http://schemas.microsoft.com/office/drawing/2014/main" id="{78C4A959-F167-42C5-9989-0BE70125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800" y="32766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14" name="process-title">
            <a:extLst xmlns:a="http://schemas.openxmlformats.org/drawingml/2006/main">
              <a:ext uri="{FF2B5EF4-FFF2-40B4-BE49-F238E27FC236}">
                <a16:creationId xmlns:a16="http://schemas.microsoft.com/office/drawing/2014/main" id="{DBD2F007-695F-4CB0-B602-DEC4BC7D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800" y="3562350"/>
            <a:ext cx="141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反驳</a:t>
            </a:r>
          </a:p>
        </p:txBody>
      </p:sp>
      <p:sp>
        <p:nvSpPr>
          <p:cNvPr id="15" name="process-body">
            <a:extLst xmlns:a="http://schemas.openxmlformats.org/drawingml/2006/main">
              <a:ext uri="{FF2B5EF4-FFF2-40B4-BE49-F238E27FC236}">
                <a16:creationId xmlns:a16="http://schemas.microsoft.com/office/drawing/2014/main" id="{A49A4CB5-9A09-4EE2-8EB5-445FD137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800" y="3886200"/>
            <a:ext cx="1416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6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AGENT 之间检查逻辑、情绪、镜头可行性和资产可用性。</a:t>
            </a:r>
          </a:p>
        </p:txBody>
      </p:sp>
      <p:sp>
        <p:nvSpPr>
          <p:cNvPr id="16" name="process-cell">
            <a:extLst xmlns:a="http://schemas.openxmlformats.org/drawingml/2006/main">
              <a:ext uri="{FF2B5EF4-FFF2-40B4-BE49-F238E27FC236}">
                <a16:creationId xmlns:a16="http://schemas.microsoft.com/office/drawing/2014/main" id="{088B37E1-0888-44D7-AABF-E313760D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500" y="3143250"/>
            <a:ext cx="1682750" cy="1381125"/>
          </a:xfrm>
          <a:prstGeom xmlns:a="http://schemas.openxmlformats.org/drawingml/2006/main" prst="roundRect">
            <a:avLst>
              <a:gd name="adj" fmla="val 1379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process-no">
            <a:extLst xmlns:a="http://schemas.openxmlformats.org/drawingml/2006/main">
              <a:ext uri="{FF2B5EF4-FFF2-40B4-BE49-F238E27FC236}">
                <a16:creationId xmlns:a16="http://schemas.microsoft.com/office/drawing/2014/main" id="{09CB86DD-087C-4CDE-AD13-60A5A547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0850" y="32766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sp>
        <p:nvSpPr>
          <p:cNvPr id="18" name="process-title">
            <a:extLst xmlns:a="http://schemas.openxmlformats.org/drawingml/2006/main">
              <a:ext uri="{FF2B5EF4-FFF2-40B4-BE49-F238E27FC236}">
                <a16:creationId xmlns:a16="http://schemas.microsoft.com/office/drawing/2014/main" id="{6E21D127-4951-4E49-A17B-48C3F81C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0850" y="3562350"/>
            <a:ext cx="141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收敛</a:t>
            </a:r>
          </a:p>
        </p:txBody>
      </p:sp>
      <p:sp>
        <p:nvSpPr>
          <p:cNvPr id="19" name="process-body">
            <a:extLst xmlns:a="http://schemas.openxmlformats.org/drawingml/2006/main">
              <a:ext uri="{FF2B5EF4-FFF2-40B4-BE49-F238E27FC236}">
                <a16:creationId xmlns:a16="http://schemas.microsoft.com/office/drawing/2014/main" id="{9F2E651E-D029-43E2-A02B-18F1851D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0850" y="3886200"/>
            <a:ext cx="1416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6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把发散想法压成可执行的故事段落、镜头目标和确认项。</a:t>
            </a:r>
          </a:p>
        </p:txBody>
      </p:sp>
      <p:sp>
        <p:nvSpPr>
          <p:cNvPr id="20" name="process-cell">
            <a:extLst xmlns:a="http://schemas.openxmlformats.org/drawingml/2006/main">
              <a:ext uri="{FF2B5EF4-FFF2-40B4-BE49-F238E27FC236}">
                <a16:creationId xmlns:a16="http://schemas.microsoft.com/office/drawing/2014/main" id="{A9A454F4-A03E-45A8-B139-05D0815D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43250"/>
            <a:ext cx="1682750" cy="1381125"/>
          </a:xfrm>
          <a:prstGeom xmlns:a="http://schemas.openxmlformats.org/drawingml/2006/main" prst="roundRect">
            <a:avLst>
              <a:gd name="adj" fmla="val 1379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process-no">
            <a:extLst xmlns:a="http://schemas.openxmlformats.org/drawingml/2006/main">
              <a:ext uri="{FF2B5EF4-FFF2-40B4-BE49-F238E27FC236}">
                <a16:creationId xmlns:a16="http://schemas.microsoft.com/office/drawing/2014/main" id="{1393FCCC-6E5D-471B-8D91-6112452A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766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04</a:t>
            </a:r>
          </a:p>
        </p:txBody>
      </p:sp>
      <p:sp>
        <p:nvSpPr>
          <p:cNvPr id="22" name="process-title">
            <a:extLst xmlns:a="http://schemas.openxmlformats.org/drawingml/2006/main">
              <a:ext uri="{FF2B5EF4-FFF2-40B4-BE49-F238E27FC236}">
                <a16:creationId xmlns:a16="http://schemas.microsoft.com/office/drawing/2014/main" id="{310A0008-BD5A-4AD8-9ED9-5507B05F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62350"/>
            <a:ext cx="141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修复</a:t>
            </a:r>
          </a:p>
        </p:txBody>
      </p:sp>
      <p:sp>
        <p:nvSpPr>
          <p:cNvPr id="23" name="process-body">
            <a:extLst xmlns:a="http://schemas.openxmlformats.org/drawingml/2006/main">
              <a:ext uri="{FF2B5EF4-FFF2-40B4-BE49-F238E27FC236}">
                <a16:creationId xmlns:a16="http://schemas.microsoft.com/office/drawing/2014/main" id="{020F9384-9996-43C0-A825-9D298526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886200"/>
            <a:ext cx="1416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6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发现空洞、矛盾、画面弱或角色动机不足时，进入补写和重构。</a:t>
            </a:r>
          </a:p>
        </p:txBody>
      </p:sp>
      <p:sp>
        <p:nvSpPr>
          <p:cNvPr id="24" name="process-cell">
            <a:extLst xmlns:a="http://schemas.openxmlformats.org/drawingml/2006/main">
              <a:ext uri="{FF2B5EF4-FFF2-40B4-BE49-F238E27FC236}">
                <a16:creationId xmlns:a16="http://schemas.microsoft.com/office/drawing/2014/main" id="{EA2AE5D3-80F7-4846-9E54-C07AD3EE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600" y="3143250"/>
            <a:ext cx="1682750" cy="1381125"/>
          </a:xfrm>
          <a:prstGeom xmlns:a="http://schemas.openxmlformats.org/drawingml/2006/main" prst="roundRect">
            <a:avLst>
              <a:gd name="adj" fmla="val 1379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process-no">
            <a:extLst xmlns:a="http://schemas.openxmlformats.org/drawingml/2006/main">
              <a:ext uri="{FF2B5EF4-FFF2-40B4-BE49-F238E27FC236}">
                <a16:creationId xmlns:a16="http://schemas.microsoft.com/office/drawing/2014/main" id="{FA623363-2678-4243-B369-FCD96767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4950" y="32766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05</a:t>
            </a:r>
          </a:p>
        </p:txBody>
      </p:sp>
      <p:sp>
        <p:nvSpPr>
          <p:cNvPr id="26" name="process-title">
            <a:extLst xmlns:a="http://schemas.openxmlformats.org/drawingml/2006/main">
              <a:ext uri="{FF2B5EF4-FFF2-40B4-BE49-F238E27FC236}">
                <a16:creationId xmlns:a16="http://schemas.microsoft.com/office/drawing/2014/main" id="{E653C0D0-B91E-46A5-BBEA-E44A21E9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4950" y="3562350"/>
            <a:ext cx="141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质量门禁</a:t>
            </a:r>
          </a:p>
        </p:txBody>
      </p:sp>
      <p:sp>
        <p:nvSpPr>
          <p:cNvPr id="27" name="process-body">
            <a:extLst xmlns:a="http://schemas.openxmlformats.org/drawingml/2006/main">
              <a:ext uri="{FF2B5EF4-FFF2-40B4-BE49-F238E27FC236}">
                <a16:creationId xmlns:a16="http://schemas.microsoft.com/office/drawing/2014/main" id="{CB5996FC-F273-4816-ADD9-BBD4203E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4950" y="3886200"/>
            <a:ext cx="1416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6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HIDE / Review Gate 把通过、拒绝、等待确认转成稳定状态。</a:t>
            </a:r>
          </a:p>
        </p:txBody>
      </p:sp>
      <p:sp>
        <p:nvSpPr>
          <p:cNvPr id="28" name="process-cell">
            <a:extLst xmlns:a="http://schemas.openxmlformats.org/drawingml/2006/main">
              <a:ext uri="{FF2B5EF4-FFF2-40B4-BE49-F238E27FC236}">
                <a16:creationId xmlns:a16="http://schemas.microsoft.com/office/drawing/2014/main" id="{25D4134F-D0A6-460B-80E5-01FE6745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8650" y="3143250"/>
            <a:ext cx="1682750" cy="1381125"/>
          </a:xfrm>
          <a:prstGeom xmlns:a="http://schemas.openxmlformats.org/drawingml/2006/main" prst="roundRect">
            <a:avLst>
              <a:gd name="adj" fmla="val 1379"/>
            </a:avLst>
          </a:prstGeom>
          <a:solidFill xmlns:a="http://schemas.openxmlformats.org/drawingml/2006/main">
            <a:srgbClr val="E9F8FB"/>
          </a:solidFill>
          <a:ln xmlns:a="http://schemas.openxmlformats.org/drawingml/2006/main" w="9525">
            <a:solidFill>
              <a:srgbClr val="20A9C9"/>
            </a:solidFill>
            <a:prstDash val="solid"/>
          </a:ln>
        </p:spPr>
      </p:sp>
      <p:sp>
        <p:nvSpPr>
          <p:cNvPr id="29" name="process-no">
            <a:extLst xmlns:a="http://schemas.openxmlformats.org/drawingml/2006/main">
              <a:ext uri="{FF2B5EF4-FFF2-40B4-BE49-F238E27FC236}">
                <a16:creationId xmlns:a16="http://schemas.microsoft.com/office/drawing/2014/main" id="{A77CA694-83AA-496D-A175-4DA04031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32766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06</a:t>
            </a:r>
          </a:p>
        </p:txBody>
      </p:sp>
      <p:sp>
        <p:nvSpPr>
          <p:cNvPr id="30" name="process-title">
            <a:extLst xmlns:a="http://schemas.openxmlformats.org/drawingml/2006/main">
              <a:ext uri="{FF2B5EF4-FFF2-40B4-BE49-F238E27FC236}">
                <a16:creationId xmlns:a16="http://schemas.microsoft.com/office/drawing/2014/main" id="{A770AF54-9915-453A-BA19-62070729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3562350"/>
            <a:ext cx="141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63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下游生产</a:t>
            </a:r>
          </a:p>
        </p:txBody>
      </p:sp>
      <p:sp>
        <p:nvSpPr>
          <p:cNvPr id="31" name="process-body">
            <a:extLst xmlns:a="http://schemas.openxmlformats.org/drawingml/2006/main">
              <a:ext uri="{FF2B5EF4-FFF2-40B4-BE49-F238E27FC236}">
                <a16:creationId xmlns:a16="http://schemas.microsoft.com/office/drawing/2014/main" id="{723F073F-77B8-46D0-A83A-0C9AC848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3886200"/>
            <a:ext cx="1416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6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生成 SHOT、prompt、参考绑定、图像候选和视频队列。</a:t>
            </a:r>
          </a:p>
        </p:txBody>
      </p:sp>
      <p:sp>
        <p:nvSpPr>
          <p:cNvPr id="32" name="callout">
            <a:extLst xmlns:a="http://schemas.openxmlformats.org/drawingml/2006/main">
              <a:ext uri="{FF2B5EF4-FFF2-40B4-BE49-F238E27FC236}">
                <a16:creationId xmlns:a16="http://schemas.microsoft.com/office/drawing/2014/main" id="{2031253C-C681-41E3-9D2F-2B6621C7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76800"/>
            <a:ext cx="9144000" cy="8953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080B0F"/>
          </a:solidFill>
          <a:ln xmlns:a="http://schemas.openxmlformats.org/drawingml/2006/main" w="9525">
            <a:solidFill>
              <a:srgbClr val="080B0F"/>
            </a:solidFill>
            <a:prstDash val="solid"/>
          </a:ln>
        </p:spPr>
      </p:sp>
      <p:sp>
        <p:nvSpPr>
          <p:cNvPr id="33" name="callout-text">
            <a:extLst xmlns:a="http://schemas.openxmlformats.org/drawingml/2006/main">
              <a:ext uri="{FF2B5EF4-FFF2-40B4-BE49-F238E27FC236}">
                <a16:creationId xmlns:a16="http://schemas.microsoft.com/office/drawing/2014/main" id="{1455FD05-4354-4AF9-9F4C-84FF223B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054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3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3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核心区别：单 AGENT 是“你问它答”；这套系统是“多个制片角色互相质检，再把结果落到可生产的 SHOT”。</a:t>
            </a:r>
          </a:p>
        </p:txBody>
      </p:sp>
      <p:sp>
        <p:nvSpPr>
          <p:cNvPr id="3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1B6FE83-1F9B-4468-8E52-B706139C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35" name="footer-note">
            <a:extLst xmlns:a="http://schemas.openxmlformats.org/drawingml/2006/main">
              <a:ext uri="{FF2B5EF4-FFF2-40B4-BE49-F238E27FC236}">
                <a16:creationId xmlns:a16="http://schemas.microsoft.com/office/drawing/2014/main" id="{ECBEC91F-78BB-4384-AB59-5E70BB57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A94A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8A94A0"/>
                </a:solidFill>
                <a:latin typeface="Microsoft YaHei UI"/>
                <a:ea typeface="Microsoft YaHei UI"/>
                <a:cs typeface="Microsoft YaHei UI"/>
              </a:rPr>
              <a:t>企业内部 AI 制片工作流系统评估 / 私有化部署口径</a:t>
            </a:r>
          </a:p>
        </p:txBody>
      </p:sp>
      <p:sp>
        <p:nvSpPr>
          <p:cNvPr id="36" name="footer-stack">
            <a:extLst xmlns:a="http://schemas.openxmlformats.org/drawingml/2006/main">
              <a:ext uri="{FF2B5EF4-FFF2-40B4-BE49-F238E27FC236}">
                <a16:creationId xmlns:a16="http://schemas.microsoft.com/office/drawing/2014/main" id="{73AF734E-12D3-4FDF-99DD-57ED0E9E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534150"/>
            <a:ext cx="422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8A94A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8A94A0"/>
                </a:solidFill>
                <a:latin typeface="Microsoft YaHei UI"/>
                <a:ea typeface="Microsoft YaHei UI"/>
                <a:cs typeface="Microsoft YaHei UI"/>
              </a:rPr>
              <a:t>GPT-Image 2 Edit + Dreamina / Seedance 2.0 + Multi AGENT Workflow</a:t>
            </a:r>
          </a:p>
        </p:txBody>
      </p:sp>
    </p:spTree>
    <p:extLst>
      <p:ext uri="{BB962C8B-B14F-4D97-AF65-F5344CB8AC3E}">
        <p14:creationId xmlns:p14="http://schemas.microsoft.com/office/powerpoint/2010/main" val="11560772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4B9404A8-29AF-4658-849E-E0CE7F16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AIYA STUDIO / SYSTEM EVALUATION</a:t>
            </a:r>
          </a:p>
        </p:txBody>
      </p:sp>
      <p:sp>
        <p:nvSpPr>
          <p:cNvPr id="2" name="page-no">
            <a:extLst xmlns:a="http://schemas.openxmlformats.org/drawingml/2006/main">
              <a:ext uri="{FF2B5EF4-FFF2-40B4-BE49-F238E27FC236}">
                <a16:creationId xmlns:a16="http://schemas.microsoft.com/office/drawing/2014/main" id="{87C6955F-6CD3-4EE7-A799-42A71285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9550"/>
            <a:ext cx="91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850" b="1">
                <a:solidFill>
                  <a:srgbClr val="D8DDE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50" b="1">
                <a:solidFill>
                  <a:srgbClr val="D8DDE3"/>
                </a:solidFill>
                <a:latin typeface="Microsoft YaHei UI"/>
                <a:ea typeface="Microsoft YaHei UI"/>
                <a:cs typeface="Microsoft YaHei UI"/>
              </a:rPr>
              <a:t>05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F38B0491-CD8D-4229-8F68-252A7A8C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4" name="kicker">
            <a:extLst xmlns:a="http://schemas.openxmlformats.org/drawingml/2006/main">
              <a:ext uri="{FF2B5EF4-FFF2-40B4-BE49-F238E27FC236}">
                <a16:creationId xmlns:a16="http://schemas.microsoft.com/office/drawing/2014/main" id="{8E2ADE5E-E5E8-4F14-B2F1-EFD7678E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USER THRESHOLD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5F5E300-577E-437C-822A-040876B3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075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小白使用门槛评估：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075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从专业操作降为确认、审稿和修正。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A63E10D6-2CEF-4400-AFED-80C84FC0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88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88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这不是把用户变成导演，而是把导演、分镜、视觉和 prompt 能力封装到流程里。</a:t>
            </a:r>
          </a:p>
        </p:txBody>
      </p:sp>
      <p:sp>
        <p:nvSpPr>
          <p:cNvPr id="7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3ED89E3E-9E25-4877-9509-7746FAEA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14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3"/>
          </a:solidFill>
          <a:ln xmlns:a="http://schemas.openxmlformats.org/drawingml/2006/main" w="0">
            <a:solidFill>
              <a:srgbClr val="D8DDE3"/>
            </a:solidFill>
            <a:prstDash val="solid"/>
          </a:ln>
        </p:spPr>
      </p:sp>
      <p:sp>
        <p:nvSpPr>
          <p:cNvPr id="8" name="left-block">
            <a:extLst xmlns:a="http://schemas.openxmlformats.org/drawingml/2006/main">
              <a:ext uri="{FF2B5EF4-FFF2-40B4-BE49-F238E27FC236}">
                <a16:creationId xmlns:a16="http://schemas.microsoft.com/office/drawing/2014/main" id="{387A93AA-E822-44EC-A736-465C1989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5143500" cy="2381250"/>
          </a:xfrm>
          <a:prstGeom xmlns:a="http://schemas.openxmlformats.org/drawingml/2006/main" prst="roundRect">
            <a:avLst>
              <a:gd name="adj" fmla="val 800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left-k">
            <a:extLst xmlns:a="http://schemas.openxmlformats.org/drawingml/2006/main">
              <a:ext uri="{FF2B5EF4-FFF2-40B4-BE49-F238E27FC236}">
                <a16:creationId xmlns:a16="http://schemas.microsoft.com/office/drawing/2014/main" id="{3E046B21-9B44-44A3-BA00-9F8010EE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B244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B2443A"/>
                </a:solidFill>
                <a:latin typeface="Microsoft YaHei UI"/>
                <a:ea typeface="Microsoft YaHei UI"/>
                <a:cs typeface="Microsoft YaHei UI"/>
              </a:rPr>
              <a:t>单 AGENT / 无限画布要求</a:t>
            </a:r>
          </a:p>
        </p:txBody>
      </p:sp>
      <p:sp>
        <p:nvSpPr>
          <p:cNvPr id="10" name="left-title">
            <a:extLst xmlns:a="http://schemas.openxmlformats.org/drawingml/2006/main">
              <a:ext uri="{FF2B5EF4-FFF2-40B4-BE49-F238E27FC236}">
                <a16:creationId xmlns:a16="http://schemas.microsoft.com/office/drawing/2014/main" id="{B99EFAE0-D35D-4BDE-884F-1DB0D137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操作员必须本来就懂</a:t>
            </a:r>
          </a:p>
        </p:txBody>
      </p:sp>
      <p:sp>
        <p:nvSpPr>
          <p:cNvPr id="11" name="capsule">
            <a:extLst xmlns:a="http://schemas.openxmlformats.org/drawingml/2006/main">
              <a:ext uri="{FF2B5EF4-FFF2-40B4-BE49-F238E27FC236}">
                <a16:creationId xmlns:a16="http://schemas.microsoft.com/office/drawing/2014/main" id="{9549755F-1698-486A-8EDB-4C96A6B1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190500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apsule-text">
            <a:extLst xmlns:a="http://schemas.openxmlformats.org/drawingml/2006/main">
              <a:ext uri="{FF2B5EF4-FFF2-40B4-BE49-F238E27FC236}">
                <a16:creationId xmlns:a16="http://schemas.microsoft.com/office/drawing/2014/main" id="{06F99526-3E3A-48EC-91B1-1346EFF8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33875"/>
            <a:ext cx="1676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B244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B2443A"/>
                </a:solidFill>
                <a:latin typeface="Microsoft YaHei UI"/>
                <a:ea typeface="Microsoft YaHei UI"/>
                <a:cs typeface="Microsoft YaHei UI"/>
              </a:rPr>
              <a:t>提示词结构</a:t>
            </a:r>
          </a:p>
        </p:txBody>
      </p:sp>
      <p:sp>
        <p:nvSpPr>
          <p:cNvPr id="13" name="capsule">
            <a:extLst xmlns:a="http://schemas.openxmlformats.org/drawingml/2006/main">
              <a:ext uri="{FF2B5EF4-FFF2-40B4-BE49-F238E27FC236}">
                <a16:creationId xmlns:a16="http://schemas.microsoft.com/office/drawing/2014/main" id="{09AB49AA-5EDF-4EFB-98DC-EE1A8AB3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67200"/>
            <a:ext cx="190500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psule-text">
            <a:extLst xmlns:a="http://schemas.openxmlformats.org/drawingml/2006/main">
              <a:ext uri="{FF2B5EF4-FFF2-40B4-BE49-F238E27FC236}">
                <a16:creationId xmlns:a16="http://schemas.microsoft.com/office/drawing/2014/main" id="{CEFAD045-9761-49CA-90A7-5E856530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333875"/>
            <a:ext cx="1676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B244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B2443A"/>
                </a:solidFill>
                <a:latin typeface="Microsoft YaHei UI"/>
                <a:ea typeface="Microsoft YaHei UI"/>
                <a:cs typeface="Microsoft YaHei UI"/>
              </a:rPr>
              <a:t>分镜节奏</a:t>
            </a:r>
          </a:p>
        </p:txBody>
      </p:sp>
      <p:sp>
        <p:nvSpPr>
          <p:cNvPr id="15" name="capsule">
            <a:extLst xmlns:a="http://schemas.openxmlformats.org/drawingml/2006/main">
              <a:ext uri="{FF2B5EF4-FFF2-40B4-BE49-F238E27FC236}">
                <a16:creationId xmlns:a16="http://schemas.microsoft.com/office/drawing/2014/main" id="{1998473B-FA9B-456A-A6FD-008FF030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90500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apsule-text">
            <a:extLst xmlns:a="http://schemas.openxmlformats.org/drawingml/2006/main">
              <a:ext uri="{FF2B5EF4-FFF2-40B4-BE49-F238E27FC236}">
                <a16:creationId xmlns:a16="http://schemas.microsoft.com/office/drawing/2014/main" id="{F02F48DE-6820-4E33-AAF2-808F4203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95825"/>
            <a:ext cx="1676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B244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B2443A"/>
                </a:solidFill>
                <a:latin typeface="Microsoft YaHei UI"/>
                <a:ea typeface="Microsoft YaHei UI"/>
                <a:cs typeface="Microsoft YaHei UI"/>
              </a:rPr>
              <a:t>构图与镜头语言</a:t>
            </a:r>
          </a:p>
        </p:txBody>
      </p:sp>
      <p:sp>
        <p:nvSpPr>
          <p:cNvPr id="17" name="capsule">
            <a:extLst xmlns:a="http://schemas.openxmlformats.org/drawingml/2006/main">
              <a:ext uri="{FF2B5EF4-FFF2-40B4-BE49-F238E27FC236}">
                <a16:creationId xmlns:a16="http://schemas.microsoft.com/office/drawing/2014/main" id="{5EFE2F64-7567-44F6-9C5D-651C66C1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629150"/>
            <a:ext cx="190500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psule-text">
            <a:extLst xmlns:a="http://schemas.openxmlformats.org/drawingml/2006/main">
              <a:ext uri="{FF2B5EF4-FFF2-40B4-BE49-F238E27FC236}">
                <a16:creationId xmlns:a16="http://schemas.microsoft.com/office/drawing/2014/main" id="{86865F49-1ACD-4F9F-AD6B-53372E0B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695825"/>
            <a:ext cx="1676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B244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B2443A"/>
                </a:solidFill>
                <a:latin typeface="Microsoft YaHei UI"/>
                <a:ea typeface="Microsoft YaHei UI"/>
                <a:cs typeface="Microsoft YaHei UI"/>
              </a:rPr>
              <a:t>角色/场景/道具一致性</a:t>
            </a:r>
          </a:p>
        </p:txBody>
      </p:sp>
      <p:sp>
        <p:nvSpPr>
          <p:cNvPr id="19" name="capsule">
            <a:extLst xmlns:a="http://schemas.openxmlformats.org/drawingml/2006/main">
              <a:ext uri="{FF2B5EF4-FFF2-40B4-BE49-F238E27FC236}">
                <a16:creationId xmlns:a16="http://schemas.microsoft.com/office/drawing/2014/main" id="{711418C6-C044-4296-9DAC-7FE97FF1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190500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apsule-text">
            <a:extLst xmlns:a="http://schemas.openxmlformats.org/drawingml/2006/main">
              <a:ext uri="{FF2B5EF4-FFF2-40B4-BE49-F238E27FC236}">
                <a16:creationId xmlns:a16="http://schemas.microsoft.com/office/drawing/2014/main" id="{FA776241-88BA-4ED1-890E-DAB32AEF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57775"/>
            <a:ext cx="1676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B244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B2443A"/>
                </a:solidFill>
                <a:latin typeface="Microsoft YaHei UI"/>
                <a:ea typeface="Microsoft YaHei UI"/>
                <a:cs typeface="Microsoft YaHei UI"/>
              </a:rPr>
              <a:t>模型边界与失败修复</a:t>
            </a:r>
          </a:p>
        </p:txBody>
      </p:sp>
      <p:sp>
        <p:nvSpPr>
          <p:cNvPr id="21" name="capsule">
            <a:extLst xmlns:a="http://schemas.openxmlformats.org/drawingml/2006/main">
              <a:ext uri="{FF2B5EF4-FFF2-40B4-BE49-F238E27FC236}">
                <a16:creationId xmlns:a16="http://schemas.microsoft.com/office/drawing/2014/main" id="{3D7F7F2B-DC41-4332-9EEE-8EBED718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991100"/>
            <a:ext cx="190500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psule-text">
            <a:extLst xmlns:a="http://schemas.openxmlformats.org/drawingml/2006/main">
              <a:ext uri="{FF2B5EF4-FFF2-40B4-BE49-F238E27FC236}">
                <a16:creationId xmlns:a16="http://schemas.microsoft.com/office/drawing/2014/main" id="{E0C60B7B-FCEE-4E08-A34E-ED395194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057775"/>
            <a:ext cx="1676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B244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B2443A"/>
                </a:solidFill>
                <a:latin typeface="Microsoft YaHei UI"/>
                <a:ea typeface="Microsoft YaHei UI"/>
                <a:cs typeface="Microsoft YaHei UI"/>
              </a:rPr>
              <a:t>结果审美判断</a:t>
            </a:r>
          </a:p>
        </p:txBody>
      </p:sp>
      <p:sp>
        <p:nvSpPr>
          <p:cNvPr id="23" name="right-block">
            <a:extLst xmlns:a="http://schemas.openxmlformats.org/drawingml/2006/main">
              <a:ext uri="{FF2B5EF4-FFF2-40B4-BE49-F238E27FC236}">
                <a16:creationId xmlns:a16="http://schemas.microsoft.com/office/drawing/2014/main" id="{316012CF-53AB-4F0B-B6B9-EFCB9589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43250"/>
            <a:ext cx="5429250" cy="2381250"/>
          </a:xfrm>
          <a:prstGeom xmlns:a="http://schemas.openxmlformats.org/drawingml/2006/main" prst="roundRect">
            <a:avLst>
              <a:gd name="adj" fmla="val 800"/>
            </a:avLst>
          </a:prstGeom>
          <a:solidFill xmlns:a="http://schemas.openxmlformats.org/drawingml/2006/main">
            <a:srgbClr val="E9F8FB"/>
          </a:solidFill>
          <a:ln xmlns:a="http://schemas.openxmlformats.org/drawingml/2006/main" w="9525">
            <a:solidFill>
              <a:srgbClr val="20A9C9"/>
            </a:solidFill>
            <a:prstDash val="solid"/>
          </a:ln>
        </p:spPr>
      </p:sp>
      <p:sp>
        <p:nvSpPr>
          <p:cNvPr id="24" name="right-k">
            <a:extLst xmlns:a="http://schemas.openxmlformats.org/drawingml/2006/main">
              <a:ext uri="{FF2B5EF4-FFF2-40B4-BE49-F238E27FC236}">
                <a16:creationId xmlns:a16="http://schemas.microsoft.com/office/drawing/2014/main" id="{5E686E91-6580-473C-B513-8A2B2711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718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Studio v3 内部流程要求</a:t>
            </a:r>
          </a:p>
        </p:txBody>
      </p:sp>
      <p:sp>
        <p:nvSpPr>
          <p:cNvPr id="25" name="right-title">
            <a:extLst xmlns:a="http://schemas.openxmlformats.org/drawingml/2006/main">
              <a:ext uri="{FF2B5EF4-FFF2-40B4-BE49-F238E27FC236}">
                <a16:creationId xmlns:a16="http://schemas.microsoft.com/office/drawing/2014/main" id="{6FBFCCCD-7BF8-4152-A649-8CF6CF10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957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操作员主要负责判断</a:t>
            </a:r>
          </a:p>
        </p:txBody>
      </p:sp>
      <p:sp>
        <p:nvSpPr>
          <p:cNvPr id="26" name="capsule">
            <a:extLst xmlns:a="http://schemas.openxmlformats.org/drawingml/2006/main">
              <a:ext uri="{FF2B5EF4-FFF2-40B4-BE49-F238E27FC236}">
                <a16:creationId xmlns:a16="http://schemas.microsoft.com/office/drawing/2014/main" id="{3D5AB6B4-190E-48DA-96B1-67B6591C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67200"/>
            <a:ext cx="198120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9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apsule-text">
            <a:extLst xmlns:a="http://schemas.openxmlformats.org/drawingml/2006/main">
              <a:ext uri="{FF2B5EF4-FFF2-40B4-BE49-F238E27FC236}">
                <a16:creationId xmlns:a16="http://schemas.microsoft.com/office/drawing/2014/main" id="{AE15F92E-9F16-4142-BA0F-CCFA4290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33875"/>
            <a:ext cx="1752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提出目标</a:t>
            </a:r>
          </a:p>
        </p:txBody>
      </p:sp>
      <p:sp>
        <p:nvSpPr>
          <p:cNvPr id="28" name="capsule">
            <a:extLst xmlns:a="http://schemas.openxmlformats.org/drawingml/2006/main">
              <a:ext uri="{FF2B5EF4-FFF2-40B4-BE49-F238E27FC236}">
                <a16:creationId xmlns:a16="http://schemas.microsoft.com/office/drawing/2014/main" id="{8E60CB7A-6368-4B94-B388-68FFD331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67200"/>
            <a:ext cx="198120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9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apsule-text">
            <a:extLst xmlns:a="http://schemas.openxmlformats.org/drawingml/2006/main">
              <a:ext uri="{FF2B5EF4-FFF2-40B4-BE49-F238E27FC236}">
                <a16:creationId xmlns:a16="http://schemas.microsoft.com/office/drawing/2014/main" id="{7426F551-A743-4FE5-90FD-FB83F930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333875"/>
            <a:ext cx="1752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选择候选</a:t>
            </a:r>
          </a:p>
        </p:txBody>
      </p:sp>
      <p:sp>
        <p:nvSpPr>
          <p:cNvPr id="30" name="capsule">
            <a:extLst xmlns:a="http://schemas.openxmlformats.org/drawingml/2006/main">
              <a:ext uri="{FF2B5EF4-FFF2-40B4-BE49-F238E27FC236}">
                <a16:creationId xmlns:a16="http://schemas.microsoft.com/office/drawing/2014/main" id="{24CA1400-2E59-453C-B162-7923C485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29150"/>
            <a:ext cx="198120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9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apsule-text">
            <a:extLst xmlns:a="http://schemas.openxmlformats.org/drawingml/2006/main">
              <a:ext uri="{FF2B5EF4-FFF2-40B4-BE49-F238E27FC236}">
                <a16:creationId xmlns:a16="http://schemas.microsoft.com/office/drawing/2014/main" id="{DCD168EA-FEB3-4D26-AA9C-0F6F1A45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95825"/>
            <a:ext cx="1752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确认 / 拒绝</a:t>
            </a:r>
          </a:p>
        </p:txBody>
      </p:sp>
      <p:sp>
        <p:nvSpPr>
          <p:cNvPr id="32" name="capsule">
            <a:extLst xmlns:a="http://schemas.openxmlformats.org/drawingml/2006/main">
              <a:ext uri="{FF2B5EF4-FFF2-40B4-BE49-F238E27FC236}">
                <a16:creationId xmlns:a16="http://schemas.microsoft.com/office/drawing/2014/main" id="{908738A4-FC7A-4745-A010-E102DB30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629150"/>
            <a:ext cx="198120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9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apsule-text">
            <a:extLst xmlns:a="http://schemas.openxmlformats.org/drawingml/2006/main">
              <a:ext uri="{FF2B5EF4-FFF2-40B4-BE49-F238E27FC236}">
                <a16:creationId xmlns:a16="http://schemas.microsoft.com/office/drawing/2014/main" id="{7AD762F0-1BAC-40DC-A5E6-7983FA1B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695825"/>
            <a:ext cx="1752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补充修改意见</a:t>
            </a:r>
          </a:p>
        </p:txBody>
      </p:sp>
      <p:sp>
        <p:nvSpPr>
          <p:cNvPr id="34" name="capsule">
            <a:extLst xmlns:a="http://schemas.openxmlformats.org/drawingml/2006/main">
              <a:ext uri="{FF2B5EF4-FFF2-40B4-BE49-F238E27FC236}">
                <a16:creationId xmlns:a16="http://schemas.microsoft.com/office/drawing/2014/main" id="{D5F04095-943B-457D-B280-1D9CD514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91100"/>
            <a:ext cx="198120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9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apsule-text">
            <a:extLst xmlns:a="http://schemas.openxmlformats.org/drawingml/2006/main">
              <a:ext uri="{FF2B5EF4-FFF2-40B4-BE49-F238E27FC236}">
                <a16:creationId xmlns:a16="http://schemas.microsoft.com/office/drawing/2014/main" id="{EC30F9D7-5A72-47E2-B1F0-10FB3B76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057775"/>
            <a:ext cx="1752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审稿验收</a:t>
            </a:r>
          </a:p>
        </p:txBody>
      </p:sp>
      <p:sp>
        <p:nvSpPr>
          <p:cNvPr id="36" name="capsule">
            <a:extLst xmlns:a="http://schemas.openxmlformats.org/drawingml/2006/main">
              <a:ext uri="{FF2B5EF4-FFF2-40B4-BE49-F238E27FC236}">
                <a16:creationId xmlns:a16="http://schemas.microsoft.com/office/drawing/2014/main" id="{8152E315-6372-4AE6-A747-FB4A889C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991100"/>
            <a:ext cx="198120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9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apsule-text">
            <a:extLst xmlns:a="http://schemas.openxmlformats.org/drawingml/2006/main">
              <a:ext uri="{FF2B5EF4-FFF2-40B4-BE49-F238E27FC236}">
                <a16:creationId xmlns:a16="http://schemas.microsoft.com/office/drawing/2014/main" id="{09277356-EE22-4A87-987A-9551E207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057775"/>
            <a:ext cx="1752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复用内部资产</a:t>
            </a:r>
          </a:p>
        </p:txBody>
      </p:sp>
      <p:sp>
        <p:nvSpPr>
          <p:cNvPr id="38" name="bottom">
            <a:extLst xmlns:a="http://schemas.openxmlformats.org/drawingml/2006/main">
              <a:ext uri="{FF2B5EF4-FFF2-40B4-BE49-F238E27FC236}">
                <a16:creationId xmlns:a16="http://schemas.microsoft.com/office/drawing/2014/main" id="{D10E0764-B9CB-4736-BDDE-B638433B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864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4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4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合理判断：三天上手更接近内部工具培训；关键是把专业判断压缩成可确认步骤</a:t>
            </a:r>
          </a:p>
        </p:txBody>
      </p:sp>
      <p:sp>
        <p:nvSpPr>
          <p:cNvPr id="3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7B926B4-D5C9-4F50-9043-F6C21287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40" name="footer-note">
            <a:extLst xmlns:a="http://schemas.openxmlformats.org/drawingml/2006/main">
              <a:ext uri="{FF2B5EF4-FFF2-40B4-BE49-F238E27FC236}">
                <a16:creationId xmlns:a16="http://schemas.microsoft.com/office/drawing/2014/main" id="{CBC5E7CE-77B6-4E65-BEA6-091379A4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A94A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8A94A0"/>
                </a:solidFill>
                <a:latin typeface="Microsoft YaHei UI"/>
                <a:ea typeface="Microsoft YaHei UI"/>
                <a:cs typeface="Microsoft YaHei UI"/>
              </a:rPr>
              <a:t>门槛评估按企业内部岗位替代/培训成本口径，而不是个人创作软件口径</a:t>
            </a:r>
          </a:p>
        </p:txBody>
      </p:sp>
      <p:sp>
        <p:nvSpPr>
          <p:cNvPr id="41" name="footer-stack">
            <a:extLst xmlns:a="http://schemas.openxmlformats.org/drawingml/2006/main">
              <a:ext uri="{FF2B5EF4-FFF2-40B4-BE49-F238E27FC236}">
                <a16:creationId xmlns:a16="http://schemas.microsoft.com/office/drawing/2014/main" id="{9DBB82D1-6C02-413F-A71B-AA977F25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534150"/>
            <a:ext cx="422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8A94A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8A94A0"/>
                </a:solidFill>
                <a:latin typeface="Microsoft YaHei UI"/>
                <a:ea typeface="Microsoft YaHei UI"/>
                <a:cs typeface="Microsoft YaHei UI"/>
              </a:rPr>
              <a:t>GPT-Image 2 Edit + Dreamina / Seedance 2.0 + Multi AGENT Workflow</a:t>
            </a:r>
          </a:p>
        </p:txBody>
      </p:sp>
    </p:spTree>
    <p:extLst>
      <p:ext uri="{BB962C8B-B14F-4D97-AF65-F5344CB8AC3E}">
        <p14:creationId xmlns:p14="http://schemas.microsoft.com/office/powerpoint/2010/main" val="8870111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C1B04D09-0085-4DD3-98BE-DD793199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AIYA STUDIO / SYSTEM EVALUATION</a:t>
            </a:r>
          </a:p>
        </p:txBody>
      </p:sp>
      <p:sp>
        <p:nvSpPr>
          <p:cNvPr id="2" name="page-no">
            <a:extLst xmlns:a="http://schemas.openxmlformats.org/drawingml/2006/main">
              <a:ext uri="{FF2B5EF4-FFF2-40B4-BE49-F238E27FC236}">
                <a16:creationId xmlns:a16="http://schemas.microsoft.com/office/drawing/2014/main" id="{9B37FB71-7F11-4D9A-B16E-4DA21AEF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9550"/>
            <a:ext cx="91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850" b="1">
                <a:solidFill>
                  <a:srgbClr val="D8DDE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50" b="1">
                <a:solidFill>
                  <a:srgbClr val="D8DDE3"/>
                </a:solidFill>
                <a:latin typeface="Microsoft YaHei UI"/>
                <a:ea typeface="Microsoft YaHei UI"/>
                <a:cs typeface="Microsoft YaHei UI"/>
              </a:rPr>
              <a:t>06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BF5817C0-6E1A-4A7D-A4D8-E4161AF4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4" name="kicker">
            <a:extLst xmlns:a="http://schemas.openxmlformats.org/drawingml/2006/main">
              <a:ext uri="{FF2B5EF4-FFF2-40B4-BE49-F238E27FC236}">
                <a16:creationId xmlns:a16="http://schemas.microsoft.com/office/drawing/2014/main" id="{74E514C9-4BA9-470A-A6FA-FDD1D4BC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PRODUCTION EFFICIENCY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44DE2B5-0426-47BD-9D1B-0D02C181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075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生产效率评估：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075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人力从创作降为审稿。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3E7EF563-2929-4BBB-A71C-3E8BA83E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88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88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效率优势来自完整链路自动化：从剧本讨论到 SHOT 级生成，再到失败补缺和视频队列。</a:t>
            </a:r>
          </a:p>
        </p:txBody>
      </p:sp>
      <p:sp>
        <p:nvSpPr>
          <p:cNvPr id="7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F42F02F3-5413-486D-9CF4-B013C83C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14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3"/>
          </a:solidFill>
          <a:ln xmlns:a="http://schemas.openxmlformats.org/drawingml/2006/main" w="0">
            <a:solidFill>
              <a:srgbClr val="D8DDE3"/>
            </a:solidFill>
            <a:prstDash val="solid"/>
          </a:ln>
        </p:spPr>
      </p:sp>
      <p:sp>
        <p:nvSpPr>
          <p:cNvPr id="8" name="timeline-cell">
            <a:extLst xmlns:a="http://schemas.openxmlformats.org/drawingml/2006/main">
              <a:ext uri="{FF2B5EF4-FFF2-40B4-BE49-F238E27FC236}">
                <a16:creationId xmlns:a16="http://schemas.microsoft.com/office/drawing/2014/main" id="{8DC3B7B5-6377-4ADF-B2A7-06869AC2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1507671" cy="1981200"/>
          </a:xfrm>
          <a:prstGeom xmlns:a="http://schemas.openxmlformats.org/drawingml/2006/main" prst="roundRect">
            <a:avLst>
              <a:gd name="adj" fmla="val 1264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timeline-no">
            <a:extLst xmlns:a="http://schemas.openxmlformats.org/drawingml/2006/main">
              <a:ext uri="{FF2B5EF4-FFF2-40B4-BE49-F238E27FC236}">
                <a16:creationId xmlns:a16="http://schemas.microsoft.com/office/drawing/2014/main" id="{F12AB4D4-D143-40AF-8793-0BE567D2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1279071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01</a:t>
            </a:r>
          </a:p>
        </p:txBody>
      </p:sp>
      <p:sp>
        <p:nvSpPr>
          <p:cNvPr id="10" name="timeline-title">
            <a:extLst xmlns:a="http://schemas.openxmlformats.org/drawingml/2006/main">
              <a:ext uri="{FF2B5EF4-FFF2-40B4-BE49-F238E27FC236}">
                <a16:creationId xmlns:a16="http://schemas.microsoft.com/office/drawing/2014/main" id="{CCA8BC1E-3B42-46C7-885C-BF1851FD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127907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剧本讨论</a:t>
            </a:r>
          </a:p>
        </p:txBody>
      </p:sp>
      <p:sp>
        <p:nvSpPr>
          <p:cNvPr id="11" name="timeline-body">
            <a:extLst xmlns:a="http://schemas.openxmlformats.org/drawingml/2006/main">
              <a:ext uri="{FF2B5EF4-FFF2-40B4-BE49-F238E27FC236}">
                <a16:creationId xmlns:a16="http://schemas.microsoft.com/office/drawing/2014/main" id="{E88006CD-BFB0-4036-BAE1-7656FF2E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33850"/>
            <a:ext cx="1279071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40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40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多 AGENT 输出故事结构、角色动机、情绪走向。</a:t>
            </a:r>
          </a:p>
        </p:txBody>
      </p:sp>
      <p:sp>
        <p:nvSpPr>
          <p:cNvPr id="12" name="timeline-cell">
            <a:extLst xmlns:a="http://schemas.openxmlformats.org/drawingml/2006/main">
              <a:ext uri="{FF2B5EF4-FFF2-40B4-BE49-F238E27FC236}">
                <a16:creationId xmlns:a16="http://schemas.microsoft.com/office/drawing/2014/main" id="{6487F681-8F46-4001-9E3F-CEBB4C8A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6321" y="3143250"/>
            <a:ext cx="1507671" cy="1981200"/>
          </a:xfrm>
          <a:prstGeom xmlns:a="http://schemas.openxmlformats.org/drawingml/2006/main" prst="roundRect">
            <a:avLst>
              <a:gd name="adj" fmla="val 1264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timeline-no">
            <a:extLst xmlns:a="http://schemas.openxmlformats.org/drawingml/2006/main">
              <a:ext uri="{FF2B5EF4-FFF2-40B4-BE49-F238E27FC236}">
                <a16:creationId xmlns:a16="http://schemas.microsoft.com/office/drawing/2014/main" id="{E56FD6FA-C673-4839-8EF5-FFA64B3F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0621" y="3276600"/>
            <a:ext cx="1279071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14" name="timeline-title">
            <a:extLst xmlns:a="http://schemas.openxmlformats.org/drawingml/2006/main">
              <a:ext uri="{FF2B5EF4-FFF2-40B4-BE49-F238E27FC236}">
                <a16:creationId xmlns:a16="http://schemas.microsoft.com/office/drawing/2014/main" id="{19E525F3-1939-4E6F-B78F-ABBAD925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0621" y="3657600"/>
            <a:ext cx="127907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分镜拆解</a:t>
            </a:r>
          </a:p>
        </p:txBody>
      </p:sp>
      <p:sp>
        <p:nvSpPr>
          <p:cNvPr id="15" name="timeline-body">
            <a:extLst xmlns:a="http://schemas.openxmlformats.org/drawingml/2006/main">
              <a:ext uri="{FF2B5EF4-FFF2-40B4-BE49-F238E27FC236}">
                <a16:creationId xmlns:a16="http://schemas.microsoft.com/office/drawing/2014/main" id="{1BDD6D7C-42FD-434F-B27D-9125F057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0621" y="4133850"/>
            <a:ext cx="1279071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40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40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自动生成 SHOT，绑定标注、共享资产和镜头意图。</a:t>
            </a:r>
          </a:p>
        </p:txBody>
      </p:sp>
      <p:sp>
        <p:nvSpPr>
          <p:cNvPr id="16" name="timeline-cell">
            <a:extLst xmlns:a="http://schemas.openxmlformats.org/drawingml/2006/main">
              <a:ext uri="{FF2B5EF4-FFF2-40B4-BE49-F238E27FC236}">
                <a16:creationId xmlns:a16="http://schemas.microsoft.com/office/drawing/2014/main" id="{258D9F79-088D-43C2-99CC-619DF9B4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9243" y="3143250"/>
            <a:ext cx="1507671" cy="1981200"/>
          </a:xfrm>
          <a:prstGeom xmlns:a="http://schemas.openxmlformats.org/drawingml/2006/main" prst="roundRect">
            <a:avLst>
              <a:gd name="adj" fmla="val 1264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timeline-no">
            <a:extLst xmlns:a="http://schemas.openxmlformats.org/drawingml/2006/main">
              <a:ext uri="{FF2B5EF4-FFF2-40B4-BE49-F238E27FC236}">
                <a16:creationId xmlns:a16="http://schemas.microsoft.com/office/drawing/2014/main" id="{36DD4E70-E607-465F-A453-A9135073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3543" y="3276600"/>
            <a:ext cx="1279071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sp>
        <p:nvSpPr>
          <p:cNvPr id="18" name="timeline-title">
            <a:extLst xmlns:a="http://schemas.openxmlformats.org/drawingml/2006/main">
              <a:ext uri="{FF2B5EF4-FFF2-40B4-BE49-F238E27FC236}">
                <a16:creationId xmlns:a16="http://schemas.microsoft.com/office/drawing/2014/main" id="{B0205E01-BA0B-4038-9C01-A13B57F6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3543" y="3657600"/>
            <a:ext cx="127907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Prompt 工程</a:t>
            </a:r>
          </a:p>
        </p:txBody>
      </p:sp>
      <p:sp>
        <p:nvSpPr>
          <p:cNvPr id="19" name="timeline-body">
            <a:extLst xmlns:a="http://schemas.openxmlformats.org/drawingml/2006/main">
              <a:ext uri="{FF2B5EF4-FFF2-40B4-BE49-F238E27FC236}">
                <a16:creationId xmlns:a16="http://schemas.microsoft.com/office/drawing/2014/main" id="{4B2AEF1A-1DB6-41E5-8060-017C0500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3543" y="4133850"/>
            <a:ext cx="1279071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40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40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把 reference binding、质量约束、构图要求写入 SHOT prompt。</a:t>
            </a:r>
          </a:p>
        </p:txBody>
      </p:sp>
      <p:sp>
        <p:nvSpPr>
          <p:cNvPr id="20" name="timeline-cell">
            <a:extLst xmlns:a="http://schemas.openxmlformats.org/drawingml/2006/main">
              <a:ext uri="{FF2B5EF4-FFF2-40B4-BE49-F238E27FC236}">
                <a16:creationId xmlns:a16="http://schemas.microsoft.com/office/drawing/2014/main" id="{C9966D92-29B6-482D-A052-8C81B32A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2164" y="3143250"/>
            <a:ext cx="1507671" cy="1981200"/>
          </a:xfrm>
          <a:prstGeom xmlns:a="http://schemas.openxmlformats.org/drawingml/2006/main" prst="roundRect">
            <a:avLst>
              <a:gd name="adj" fmla="val 1264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timeline-no">
            <a:extLst xmlns:a="http://schemas.openxmlformats.org/drawingml/2006/main">
              <a:ext uri="{FF2B5EF4-FFF2-40B4-BE49-F238E27FC236}">
                <a16:creationId xmlns:a16="http://schemas.microsoft.com/office/drawing/2014/main" id="{F3AB8DC9-195C-4715-8AAB-E6B2C5A0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6464" y="3276600"/>
            <a:ext cx="1279071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04</a:t>
            </a:r>
          </a:p>
        </p:txBody>
      </p:sp>
      <p:sp>
        <p:nvSpPr>
          <p:cNvPr id="22" name="timeline-title">
            <a:extLst xmlns:a="http://schemas.openxmlformats.org/drawingml/2006/main">
              <a:ext uri="{FF2B5EF4-FFF2-40B4-BE49-F238E27FC236}">
                <a16:creationId xmlns:a16="http://schemas.microsoft.com/office/drawing/2014/main" id="{C06B5A85-9435-4D4B-97BA-C2669E04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6464" y="3657600"/>
            <a:ext cx="127907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参考图/资产</a:t>
            </a:r>
          </a:p>
        </p:txBody>
      </p:sp>
      <p:sp>
        <p:nvSpPr>
          <p:cNvPr id="23" name="timeline-body">
            <a:extLst xmlns:a="http://schemas.openxmlformats.org/drawingml/2006/main">
              <a:ext uri="{FF2B5EF4-FFF2-40B4-BE49-F238E27FC236}">
                <a16:creationId xmlns:a16="http://schemas.microsoft.com/office/drawing/2014/main" id="{FC5CA07A-C21B-4BCC-A744-21ACF1D1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6464" y="4133850"/>
            <a:ext cx="1279071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40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40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调用角色、场景、道具资产，减少人工找图和风格漂移。</a:t>
            </a:r>
          </a:p>
        </p:txBody>
      </p:sp>
      <p:sp>
        <p:nvSpPr>
          <p:cNvPr id="24" name="timeline-cell">
            <a:extLst xmlns:a="http://schemas.openxmlformats.org/drawingml/2006/main">
              <a:ext uri="{FF2B5EF4-FFF2-40B4-BE49-F238E27FC236}">
                <a16:creationId xmlns:a16="http://schemas.microsoft.com/office/drawing/2014/main" id="{DDE0DE7B-748A-416B-88D9-520FB9DF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5086" y="3143250"/>
            <a:ext cx="1507671" cy="1981200"/>
          </a:xfrm>
          <a:prstGeom xmlns:a="http://schemas.openxmlformats.org/drawingml/2006/main" prst="roundRect">
            <a:avLst>
              <a:gd name="adj" fmla="val 1264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timeline-no">
            <a:extLst xmlns:a="http://schemas.openxmlformats.org/drawingml/2006/main">
              <a:ext uri="{FF2B5EF4-FFF2-40B4-BE49-F238E27FC236}">
                <a16:creationId xmlns:a16="http://schemas.microsoft.com/office/drawing/2014/main" id="{F234B579-37F6-4DC5-A6F1-B902A410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386" y="3276600"/>
            <a:ext cx="1279071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05</a:t>
            </a:r>
          </a:p>
        </p:txBody>
      </p:sp>
      <p:sp>
        <p:nvSpPr>
          <p:cNvPr id="26" name="timeline-title">
            <a:extLst xmlns:a="http://schemas.openxmlformats.org/drawingml/2006/main">
              <a:ext uri="{FF2B5EF4-FFF2-40B4-BE49-F238E27FC236}">
                <a16:creationId xmlns:a16="http://schemas.microsoft.com/office/drawing/2014/main" id="{49E2D95E-E27A-4D60-987E-8AF281F7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386" y="3657600"/>
            <a:ext cx="127907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批量/单 SHOT</a:t>
            </a:r>
          </a:p>
        </p:txBody>
      </p:sp>
      <p:sp>
        <p:nvSpPr>
          <p:cNvPr id="27" name="timeline-body">
            <a:extLst xmlns:a="http://schemas.openxmlformats.org/drawingml/2006/main">
              <a:ext uri="{FF2B5EF4-FFF2-40B4-BE49-F238E27FC236}">
                <a16:creationId xmlns:a16="http://schemas.microsoft.com/office/drawing/2014/main" id="{34DF96D0-78C5-45C1-9E30-7E10821B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386" y="4133850"/>
            <a:ext cx="1279071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40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40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既能高并发批量生成，也能单镜头补图和局部修复。</a:t>
            </a:r>
          </a:p>
        </p:txBody>
      </p:sp>
      <p:sp>
        <p:nvSpPr>
          <p:cNvPr id="28" name="timeline-cell">
            <a:extLst xmlns:a="http://schemas.openxmlformats.org/drawingml/2006/main">
              <a:ext uri="{FF2B5EF4-FFF2-40B4-BE49-F238E27FC236}">
                <a16:creationId xmlns:a16="http://schemas.microsoft.com/office/drawing/2014/main" id="{A7BC8986-897B-478B-BD2C-61428E40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8007" y="3143250"/>
            <a:ext cx="1507671" cy="1981200"/>
          </a:xfrm>
          <a:prstGeom xmlns:a="http://schemas.openxmlformats.org/drawingml/2006/main" prst="roundRect">
            <a:avLst>
              <a:gd name="adj" fmla="val 1264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9" name="timeline-no">
            <a:extLst xmlns:a="http://schemas.openxmlformats.org/drawingml/2006/main">
              <a:ext uri="{FF2B5EF4-FFF2-40B4-BE49-F238E27FC236}">
                <a16:creationId xmlns:a16="http://schemas.microsoft.com/office/drawing/2014/main" id="{4938DAB2-C6DE-4394-8697-4D1703E2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2307" y="3276600"/>
            <a:ext cx="1279071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06</a:t>
            </a:r>
          </a:p>
        </p:txBody>
      </p:sp>
      <p:sp>
        <p:nvSpPr>
          <p:cNvPr id="30" name="timeline-title">
            <a:extLst xmlns:a="http://schemas.openxmlformats.org/drawingml/2006/main">
              <a:ext uri="{FF2B5EF4-FFF2-40B4-BE49-F238E27FC236}">
                <a16:creationId xmlns:a16="http://schemas.microsoft.com/office/drawing/2014/main" id="{C72EB042-3AF4-468E-B5CC-3A3AC83C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2307" y="3657600"/>
            <a:ext cx="127907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失败补缺</a:t>
            </a:r>
          </a:p>
        </p:txBody>
      </p:sp>
      <p:sp>
        <p:nvSpPr>
          <p:cNvPr id="31" name="timeline-body">
            <a:extLst xmlns:a="http://schemas.openxmlformats.org/drawingml/2006/main">
              <a:ext uri="{FF2B5EF4-FFF2-40B4-BE49-F238E27FC236}">
                <a16:creationId xmlns:a16="http://schemas.microsoft.com/office/drawing/2014/main" id="{820197F3-A650-492C-AD3C-C96B8C7A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2307" y="4133850"/>
            <a:ext cx="1279071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40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40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缺图、失败、质量不足进入补缺和候选重试，不让流程断掉。</a:t>
            </a:r>
          </a:p>
        </p:txBody>
      </p:sp>
      <p:sp>
        <p:nvSpPr>
          <p:cNvPr id="32" name="timeline-cell">
            <a:extLst xmlns:a="http://schemas.openxmlformats.org/drawingml/2006/main">
              <a:ext uri="{FF2B5EF4-FFF2-40B4-BE49-F238E27FC236}">
                <a16:creationId xmlns:a16="http://schemas.microsoft.com/office/drawing/2014/main" id="{A25263D5-1A09-4E90-A0D2-46C18208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0929" y="3143250"/>
            <a:ext cx="1507671" cy="1981200"/>
          </a:xfrm>
          <a:prstGeom xmlns:a="http://schemas.openxmlformats.org/drawingml/2006/main" prst="roundRect">
            <a:avLst>
              <a:gd name="adj" fmla="val 1264"/>
            </a:avLst>
          </a:prstGeom>
          <a:solidFill xmlns:a="http://schemas.openxmlformats.org/drawingml/2006/main">
            <a:srgbClr val="E9F8FB"/>
          </a:solidFill>
          <a:ln xmlns:a="http://schemas.openxmlformats.org/drawingml/2006/main" w="9525">
            <a:solidFill>
              <a:srgbClr val="20A9C9"/>
            </a:solidFill>
            <a:prstDash val="solid"/>
          </a:ln>
        </p:spPr>
      </p:sp>
      <p:sp>
        <p:nvSpPr>
          <p:cNvPr id="33" name="timeline-no">
            <a:extLst xmlns:a="http://schemas.openxmlformats.org/drawingml/2006/main">
              <a:ext uri="{FF2B5EF4-FFF2-40B4-BE49-F238E27FC236}">
                <a16:creationId xmlns:a16="http://schemas.microsoft.com/office/drawing/2014/main" id="{D9E1AC61-0D16-4054-86D0-4DC3C60E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229" y="3276600"/>
            <a:ext cx="1279071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07</a:t>
            </a:r>
          </a:p>
        </p:txBody>
      </p:sp>
      <p:sp>
        <p:nvSpPr>
          <p:cNvPr id="34" name="timeline-title">
            <a:extLst xmlns:a="http://schemas.openxmlformats.org/drawingml/2006/main">
              <a:ext uri="{FF2B5EF4-FFF2-40B4-BE49-F238E27FC236}">
                <a16:creationId xmlns:a16="http://schemas.microsoft.com/office/drawing/2014/main" id="{A53BC7A1-9CF2-4407-A172-632A7B96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229" y="3657600"/>
            <a:ext cx="127907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视频队列</a:t>
            </a:r>
          </a:p>
        </p:txBody>
      </p:sp>
      <p:sp>
        <p:nvSpPr>
          <p:cNvPr id="35" name="timeline-body">
            <a:extLst xmlns:a="http://schemas.openxmlformats.org/drawingml/2006/main">
              <a:ext uri="{FF2B5EF4-FFF2-40B4-BE49-F238E27FC236}">
                <a16:creationId xmlns:a16="http://schemas.microsoft.com/office/drawing/2014/main" id="{B4A3CDF2-0833-4CAD-A28A-83E6A03D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229" y="4133850"/>
            <a:ext cx="1279071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40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40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通过 Dreamina / Seedance 2.0 承接图像候选进入视频生成。</a:t>
            </a:r>
          </a:p>
        </p:txBody>
      </p:sp>
      <p:sp>
        <p:nvSpPr>
          <p:cNvPr id="36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C6D9C395-1B35-4511-83E0-3AD35C60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219700"/>
            <a:ext cx="2667000" cy="110490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7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4443479B-2B18-454B-85AB-93EC690B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372100"/>
            <a:ext cx="2324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人工角色变化</a:t>
            </a:r>
          </a:p>
        </p:txBody>
      </p:sp>
      <p:sp>
        <p:nvSpPr>
          <p:cNvPr id="38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4CE9C893-F7B0-43BD-9B63-34D65D22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58165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创作 -&gt; 审稿</a:t>
            </a:r>
          </a:p>
        </p:txBody>
      </p:sp>
      <p:sp>
        <p:nvSpPr>
          <p:cNvPr id="39" name="metric-body">
            <a:extLst xmlns:a="http://schemas.openxmlformats.org/drawingml/2006/main">
              <a:ext uri="{FF2B5EF4-FFF2-40B4-BE49-F238E27FC236}">
                <a16:creationId xmlns:a16="http://schemas.microsoft.com/office/drawing/2014/main" id="{808F6BB8-DB19-4162-83DE-80113E8E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96265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15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15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专业分镜/视觉/prompt 任务被流程吸收。</a:t>
            </a:r>
          </a:p>
        </p:txBody>
      </p:sp>
      <p:sp>
        <p:nvSpPr>
          <p:cNvPr id="40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8E90A23B-ECAE-4EF0-AE7D-9E132F3B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219700"/>
            <a:ext cx="2667000" cy="110490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41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657D74EA-6961-43B8-B9B1-175EA527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372100"/>
            <a:ext cx="2324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生成方式变化</a:t>
            </a:r>
          </a:p>
        </p:txBody>
      </p:sp>
      <p:sp>
        <p:nvSpPr>
          <p:cNvPr id="42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D0CF065B-C619-4194-BCAA-8692DA32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58165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批量 + 单 SHOT</a:t>
            </a:r>
          </a:p>
        </p:txBody>
      </p:sp>
      <p:sp>
        <p:nvSpPr>
          <p:cNvPr id="43" name="metric-body">
            <a:extLst xmlns:a="http://schemas.openxmlformats.org/drawingml/2006/main">
              <a:ext uri="{FF2B5EF4-FFF2-40B4-BE49-F238E27FC236}">
                <a16:creationId xmlns:a16="http://schemas.microsoft.com/office/drawing/2014/main" id="{74387E42-8669-4EB2-9D29-0D029D53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96265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15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15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高并发生产与局部补缺可以同时存在。</a:t>
            </a:r>
          </a:p>
        </p:txBody>
      </p:sp>
      <p:sp>
        <p:nvSpPr>
          <p:cNvPr id="44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21B3CB70-A44B-463E-ACAF-125F203E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19700"/>
            <a:ext cx="2667000" cy="110490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45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B3A41777-4F8C-4B61-A8F1-48490DB1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372100"/>
            <a:ext cx="2324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组织价值变化</a:t>
            </a:r>
          </a:p>
        </p:txBody>
      </p:sp>
      <p:sp>
        <p:nvSpPr>
          <p:cNvPr id="46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045DAA30-96F5-42E7-8504-2D2F3FA6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58165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可复制</a:t>
            </a:r>
          </a:p>
        </p:txBody>
      </p:sp>
      <p:sp>
        <p:nvSpPr>
          <p:cNvPr id="47" name="metric-body">
            <a:extLst xmlns:a="http://schemas.openxmlformats.org/drawingml/2006/main">
              <a:ext uri="{FF2B5EF4-FFF2-40B4-BE49-F238E27FC236}">
                <a16:creationId xmlns:a16="http://schemas.microsoft.com/office/drawing/2014/main" id="{3C20A27A-3775-4ADF-9F9B-FDC82E4C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96265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15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15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培训低经验岗位，比招聘稀缺复合人才更可控。</a:t>
            </a:r>
          </a:p>
        </p:txBody>
      </p:sp>
      <p:sp>
        <p:nvSpPr>
          <p:cNvPr id="4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0D78F55-4532-4B53-9221-971F1691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49" name="footer-note">
            <a:extLst xmlns:a="http://schemas.openxmlformats.org/drawingml/2006/main">
              <a:ext uri="{FF2B5EF4-FFF2-40B4-BE49-F238E27FC236}">
                <a16:creationId xmlns:a16="http://schemas.microsoft.com/office/drawing/2014/main" id="{0AA33C6D-AC43-419C-8392-C97461A2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A94A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8A94A0"/>
                </a:solidFill>
                <a:latin typeface="Microsoft YaHei UI"/>
                <a:ea typeface="Microsoft YaHei UI"/>
                <a:cs typeface="Microsoft YaHei UI"/>
              </a:rPr>
              <a:t>企业内部 AI 制片工作流系统评估 / 私有化部署口径</a:t>
            </a:r>
          </a:p>
        </p:txBody>
      </p:sp>
      <p:sp>
        <p:nvSpPr>
          <p:cNvPr id="50" name="footer-stack">
            <a:extLst xmlns:a="http://schemas.openxmlformats.org/drawingml/2006/main">
              <a:ext uri="{FF2B5EF4-FFF2-40B4-BE49-F238E27FC236}">
                <a16:creationId xmlns:a16="http://schemas.microsoft.com/office/drawing/2014/main" id="{85637915-2C4F-4EF3-AFCB-B5522216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534150"/>
            <a:ext cx="422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8A94A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8A94A0"/>
                </a:solidFill>
                <a:latin typeface="Microsoft YaHei UI"/>
                <a:ea typeface="Microsoft YaHei UI"/>
                <a:cs typeface="Microsoft YaHei UI"/>
              </a:rPr>
              <a:t>GPT-Image 2 Edit + Dreamina / Seedance 2.0 + Multi AGENT Workflow</a:t>
            </a:r>
          </a:p>
        </p:txBody>
      </p:sp>
    </p:spTree>
    <p:extLst>
      <p:ext uri="{BB962C8B-B14F-4D97-AF65-F5344CB8AC3E}">
        <p14:creationId xmlns:p14="http://schemas.microsoft.com/office/powerpoint/2010/main" val="19951017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B59230BF-36FD-4FB6-A0DD-3662EEB3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AIYA STUDIO / SYSTEM EVALUATION</a:t>
            </a:r>
          </a:p>
        </p:txBody>
      </p:sp>
      <p:sp>
        <p:nvSpPr>
          <p:cNvPr id="2" name="page-no">
            <a:extLst xmlns:a="http://schemas.openxmlformats.org/drawingml/2006/main">
              <a:ext uri="{FF2B5EF4-FFF2-40B4-BE49-F238E27FC236}">
                <a16:creationId xmlns:a16="http://schemas.microsoft.com/office/drawing/2014/main" id="{AEF28B82-B4FC-4C01-AD98-842DF00D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9550"/>
            <a:ext cx="91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850" b="1">
                <a:solidFill>
                  <a:srgbClr val="D8DDE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50" b="1">
                <a:solidFill>
                  <a:srgbClr val="D8DDE3"/>
                </a:solidFill>
                <a:latin typeface="Microsoft YaHei UI"/>
                <a:ea typeface="Microsoft YaHei UI"/>
                <a:cs typeface="Microsoft YaHei UI"/>
              </a:rPr>
              <a:t>07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0322A3E5-6BF4-4BEC-9835-293A5B74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4" name="kicker">
            <a:extLst xmlns:a="http://schemas.openxmlformats.org/drawingml/2006/main">
              <a:ext uri="{FF2B5EF4-FFF2-40B4-BE49-F238E27FC236}">
                <a16:creationId xmlns:a16="http://schemas.microsoft.com/office/drawing/2014/main" id="{0A6C38D0-1B9F-4DB4-81B7-0D601A6B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QUALITY BASELINE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22C455A-7F89-468C-8D81-D1BEFA97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075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画面质量和一致性：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075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一致性不是亮点，是系统底座。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34138E09-97F1-42B4-A94E-EA1683D3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88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88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角色、场景、道具资产与 GPT-Image 2 Edit / reference binding / SHOT prompt 结合后，才谈得上稳定生产。</a:t>
            </a:r>
          </a:p>
        </p:txBody>
      </p:sp>
      <p:sp>
        <p:nvSpPr>
          <p:cNvPr id="7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6BB0DFED-EE89-4F29-8ABF-DD572CC0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14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3"/>
          </a:solidFill>
          <a:ln xmlns:a="http://schemas.openxmlformats.org/drawingml/2006/main" w="0">
            <a:solidFill>
              <a:srgbClr val="D8DDE3"/>
            </a:solidFill>
            <a:prstDash val="solid"/>
          </a:ln>
        </p:spPr>
      </p:sp>
      <p:sp>
        <p:nvSpPr>
          <p:cNvPr id="8" name="item-rule-56-0">
            <a:extLst xmlns:a="http://schemas.openxmlformats.org/drawingml/2006/main">
              <a:ext uri="{FF2B5EF4-FFF2-40B4-BE49-F238E27FC236}">
                <a16:creationId xmlns:a16="http://schemas.microsoft.com/office/drawing/2014/main" id="{F60D462B-D454-4C2D-94BE-AFF63057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9" name="item-index-56-0">
            <a:extLst xmlns:a="http://schemas.openxmlformats.org/drawingml/2006/main">
              <a:ext uri="{FF2B5EF4-FFF2-40B4-BE49-F238E27FC236}">
                <a16:creationId xmlns:a16="http://schemas.microsoft.com/office/drawing/2014/main" id="{8CA477F4-6809-493E-8DD0-919BBCFD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766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01</a:t>
            </a:r>
          </a:p>
        </p:txBody>
      </p:sp>
      <p:sp>
        <p:nvSpPr>
          <p:cNvPr id="10" name="item-title-56-0">
            <a:extLst xmlns:a="http://schemas.openxmlformats.org/drawingml/2006/main">
              <a:ext uri="{FF2B5EF4-FFF2-40B4-BE49-F238E27FC236}">
                <a16:creationId xmlns:a16="http://schemas.microsoft.com/office/drawing/2014/main" id="{4871ACA2-E71B-4FEE-9E66-4CF6F82D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480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模型底座</a:t>
            </a:r>
          </a:p>
        </p:txBody>
      </p:sp>
      <p:sp>
        <p:nvSpPr>
          <p:cNvPr id="11" name="item-body-56-0">
            <a:extLst xmlns:a="http://schemas.openxmlformats.org/drawingml/2006/main">
              <a:ext uri="{FF2B5EF4-FFF2-40B4-BE49-F238E27FC236}">
                <a16:creationId xmlns:a16="http://schemas.microsoft.com/office/drawing/2014/main" id="{05A19C8F-5A4C-4B7B-961B-D2C4C10B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242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65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65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GPT-Image 2 Edit 负责高一致性的图像编辑与候选生成；Dreamina / Seedance 2.0 承接视频生成。</a:t>
            </a:r>
          </a:p>
        </p:txBody>
      </p:sp>
      <p:sp>
        <p:nvSpPr>
          <p:cNvPr id="12" name="item-rule-56-1">
            <a:extLst xmlns:a="http://schemas.openxmlformats.org/drawingml/2006/main">
              <a:ext uri="{FF2B5EF4-FFF2-40B4-BE49-F238E27FC236}">
                <a16:creationId xmlns:a16="http://schemas.microsoft.com/office/drawing/2014/main" id="{8F112545-5FF0-4919-8ECE-98C710C4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386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13" name="item-index-56-1">
            <a:extLst xmlns:a="http://schemas.openxmlformats.org/drawingml/2006/main">
              <a:ext uri="{FF2B5EF4-FFF2-40B4-BE49-F238E27FC236}">
                <a16:creationId xmlns:a16="http://schemas.microsoft.com/office/drawing/2014/main" id="{101C8D54-7630-40C5-8792-BB526579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719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14" name="item-title-56-1">
            <a:extLst xmlns:a="http://schemas.openxmlformats.org/drawingml/2006/main">
              <a:ext uri="{FF2B5EF4-FFF2-40B4-BE49-F238E27FC236}">
                <a16:creationId xmlns:a16="http://schemas.microsoft.com/office/drawing/2014/main" id="{687801C6-5107-4640-897F-764D8A90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4337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资产底座</a:t>
            </a:r>
          </a:p>
        </p:txBody>
      </p:sp>
      <p:sp>
        <p:nvSpPr>
          <p:cNvPr id="15" name="item-body-56-1">
            <a:extLst xmlns:a="http://schemas.openxmlformats.org/drawingml/2006/main">
              <a:ext uri="{FF2B5EF4-FFF2-40B4-BE49-F238E27FC236}">
                <a16:creationId xmlns:a16="http://schemas.microsoft.com/office/drawing/2014/main" id="{B4E6167F-925B-47A8-8A14-4D815DF7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196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65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65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角色、场景、道具不是临时描述，而是可复用资产，进入每个相关 SHOT 的引用链。</a:t>
            </a:r>
          </a:p>
        </p:txBody>
      </p:sp>
      <p:sp>
        <p:nvSpPr>
          <p:cNvPr id="16" name="item-rule-56-2">
            <a:extLst xmlns:a="http://schemas.openxmlformats.org/drawingml/2006/main">
              <a:ext uri="{FF2B5EF4-FFF2-40B4-BE49-F238E27FC236}">
                <a16:creationId xmlns:a16="http://schemas.microsoft.com/office/drawing/2014/main" id="{449BC68E-FF71-4F31-8447-499B6DD5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339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17" name="item-index-56-2">
            <a:extLst xmlns:a="http://schemas.openxmlformats.org/drawingml/2006/main">
              <a:ext uri="{FF2B5EF4-FFF2-40B4-BE49-F238E27FC236}">
                <a16:creationId xmlns:a16="http://schemas.microsoft.com/office/drawing/2014/main" id="{2C309EEB-A831-4D88-9A7D-31970095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673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sp>
        <p:nvSpPr>
          <p:cNvPr id="18" name="item-title-56-2">
            <a:extLst xmlns:a="http://schemas.openxmlformats.org/drawingml/2006/main">
              <a:ext uri="{FF2B5EF4-FFF2-40B4-BE49-F238E27FC236}">
                <a16:creationId xmlns:a16="http://schemas.microsoft.com/office/drawing/2014/main" id="{1CC08CA3-1624-473F-8FD2-4BC9894C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387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Reference Binding</a:t>
            </a:r>
          </a:p>
        </p:txBody>
      </p:sp>
      <p:sp>
        <p:nvSpPr>
          <p:cNvPr id="19" name="item-body-56-2">
            <a:extLst xmlns:a="http://schemas.openxmlformats.org/drawingml/2006/main">
              <a:ext uri="{FF2B5EF4-FFF2-40B4-BE49-F238E27FC236}">
                <a16:creationId xmlns:a16="http://schemas.microsoft.com/office/drawing/2014/main" id="{26E41B90-D650-4E8D-B3FE-3E022416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14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65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65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系统把共享资产、镜头目标、构图要求和风格约束绑定，不靠操作员临场记忆。</a:t>
            </a:r>
          </a:p>
        </p:txBody>
      </p:sp>
      <p:sp>
        <p:nvSpPr>
          <p:cNvPr id="20" name="item-rule-650-0">
            <a:extLst xmlns:a="http://schemas.openxmlformats.org/drawingml/2006/main">
              <a:ext uri="{FF2B5EF4-FFF2-40B4-BE49-F238E27FC236}">
                <a16:creationId xmlns:a16="http://schemas.microsoft.com/office/drawing/2014/main" id="{67B4113D-BF96-4857-8D95-7EA5A8CD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21" name="item-index-650-0">
            <a:extLst xmlns:a="http://schemas.openxmlformats.org/drawingml/2006/main">
              <a:ext uri="{FF2B5EF4-FFF2-40B4-BE49-F238E27FC236}">
                <a16:creationId xmlns:a16="http://schemas.microsoft.com/office/drawing/2014/main" id="{27AB98EB-ACF6-4E71-8C0E-DEC46DAA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766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04</a:t>
            </a:r>
          </a:p>
        </p:txBody>
      </p:sp>
      <p:sp>
        <p:nvSpPr>
          <p:cNvPr id="22" name="item-title-650-0">
            <a:extLst xmlns:a="http://schemas.openxmlformats.org/drawingml/2006/main">
              <a:ext uri="{FF2B5EF4-FFF2-40B4-BE49-F238E27FC236}">
                <a16:creationId xmlns:a16="http://schemas.microsoft.com/office/drawing/2014/main" id="{39B5840D-2089-4D87-A28A-ECB5A7B0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480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SHOT 级 Prompt</a:t>
            </a:r>
          </a:p>
        </p:txBody>
      </p:sp>
      <p:sp>
        <p:nvSpPr>
          <p:cNvPr id="23" name="item-body-650-0">
            <a:extLst xmlns:a="http://schemas.openxmlformats.org/drawingml/2006/main">
              <a:ext uri="{FF2B5EF4-FFF2-40B4-BE49-F238E27FC236}">
                <a16:creationId xmlns:a16="http://schemas.microsoft.com/office/drawing/2014/main" id="{D0933A21-3120-4A03-BA7E-EB09ADA0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242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65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65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每个分镜独立生成提示词，允许单 SHOT 重试、修复和局部优化。</a:t>
            </a:r>
          </a:p>
        </p:txBody>
      </p:sp>
      <p:sp>
        <p:nvSpPr>
          <p:cNvPr id="24" name="item-rule-650-1">
            <a:extLst xmlns:a="http://schemas.openxmlformats.org/drawingml/2006/main">
              <a:ext uri="{FF2B5EF4-FFF2-40B4-BE49-F238E27FC236}">
                <a16:creationId xmlns:a16="http://schemas.microsoft.com/office/drawing/2014/main" id="{83E59035-1F03-4B21-A6AF-05B307CC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386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25" name="item-index-650-1">
            <a:extLst xmlns:a="http://schemas.openxmlformats.org/drawingml/2006/main">
              <a:ext uri="{FF2B5EF4-FFF2-40B4-BE49-F238E27FC236}">
                <a16:creationId xmlns:a16="http://schemas.microsoft.com/office/drawing/2014/main" id="{9EF9D55F-3913-4E4B-A756-42514591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719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05</a:t>
            </a:r>
          </a:p>
        </p:txBody>
      </p:sp>
      <p:sp>
        <p:nvSpPr>
          <p:cNvPr id="26" name="item-title-650-1">
            <a:extLst xmlns:a="http://schemas.openxmlformats.org/drawingml/2006/main">
              <a:ext uri="{FF2B5EF4-FFF2-40B4-BE49-F238E27FC236}">
                <a16:creationId xmlns:a16="http://schemas.microsoft.com/office/drawing/2014/main" id="{25ECF482-BBF6-459E-8EF0-855BEDE3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4337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质量门禁</a:t>
            </a:r>
          </a:p>
        </p:txBody>
      </p:sp>
      <p:sp>
        <p:nvSpPr>
          <p:cNvPr id="27" name="item-body-650-1">
            <a:extLst xmlns:a="http://schemas.openxmlformats.org/drawingml/2006/main">
              <a:ext uri="{FF2B5EF4-FFF2-40B4-BE49-F238E27FC236}">
                <a16:creationId xmlns:a16="http://schemas.microsoft.com/office/drawing/2014/main" id="{1BC7DA8B-E8D6-4CB4-99D2-34700581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196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65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65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候选不是生成完就结束，而是进入确认、拒绝、修正、补缺的闭环。</a:t>
            </a:r>
          </a:p>
        </p:txBody>
      </p:sp>
      <p:sp>
        <p:nvSpPr>
          <p:cNvPr id="28" name="item-rule-650-2">
            <a:extLst xmlns:a="http://schemas.openxmlformats.org/drawingml/2006/main">
              <a:ext uri="{FF2B5EF4-FFF2-40B4-BE49-F238E27FC236}">
                <a16:creationId xmlns:a16="http://schemas.microsoft.com/office/drawing/2014/main" id="{4A0CD4E4-2D45-4AD0-8375-B58EC895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339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29" name="item-index-650-2">
            <a:extLst xmlns:a="http://schemas.openxmlformats.org/drawingml/2006/main">
              <a:ext uri="{FF2B5EF4-FFF2-40B4-BE49-F238E27FC236}">
                <a16:creationId xmlns:a16="http://schemas.microsoft.com/office/drawing/2014/main" id="{882C091B-1DC7-4A91-A319-D14068E1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673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06</a:t>
            </a:r>
          </a:p>
        </p:txBody>
      </p:sp>
      <p:sp>
        <p:nvSpPr>
          <p:cNvPr id="30" name="item-title-650-2">
            <a:extLst xmlns:a="http://schemas.openxmlformats.org/drawingml/2006/main">
              <a:ext uri="{FF2B5EF4-FFF2-40B4-BE49-F238E27FC236}">
                <a16:creationId xmlns:a16="http://schemas.microsoft.com/office/drawing/2014/main" id="{752DFEB9-ABA8-495F-947F-139E951F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387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高于操作员水平</a:t>
            </a:r>
          </a:p>
        </p:txBody>
      </p:sp>
      <p:sp>
        <p:nvSpPr>
          <p:cNvPr id="31" name="item-body-650-2">
            <a:extLst xmlns:a="http://schemas.openxmlformats.org/drawingml/2006/main">
              <a:ext uri="{FF2B5EF4-FFF2-40B4-BE49-F238E27FC236}">
                <a16:creationId xmlns:a16="http://schemas.microsoft.com/office/drawing/2014/main" id="{2B807F61-4854-4CFB-B2DE-B136D4E2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14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65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65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多 AGENT 把构图、表演、灯光、资产一致性写进流程，使输出不被小白审美上限完全锁死。</a:t>
            </a:r>
          </a:p>
        </p:txBody>
      </p:sp>
      <p:sp>
        <p:nvSpPr>
          <p:cNvPr id="3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45DD1A6-2778-4280-BCBC-C115F598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33" name="footer-note">
            <a:extLst xmlns:a="http://schemas.openxmlformats.org/drawingml/2006/main">
              <a:ext uri="{FF2B5EF4-FFF2-40B4-BE49-F238E27FC236}">
                <a16:creationId xmlns:a16="http://schemas.microsoft.com/office/drawing/2014/main" id="{FC0753AF-7130-40D8-A0F2-C0F1EF56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A94A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8A94A0"/>
                </a:solidFill>
                <a:latin typeface="Microsoft YaHei UI"/>
                <a:ea typeface="Microsoft YaHei UI"/>
                <a:cs typeface="Microsoft YaHei UI"/>
              </a:rPr>
              <a:t>这里不把一致性当噱头，而把它作为制片系统必须具备的工程底座</a:t>
            </a:r>
          </a:p>
        </p:txBody>
      </p:sp>
      <p:sp>
        <p:nvSpPr>
          <p:cNvPr id="34" name="footer-stack">
            <a:extLst xmlns:a="http://schemas.openxmlformats.org/drawingml/2006/main">
              <a:ext uri="{FF2B5EF4-FFF2-40B4-BE49-F238E27FC236}">
                <a16:creationId xmlns:a16="http://schemas.microsoft.com/office/drawing/2014/main" id="{527E93CE-0EF0-47F0-8F9F-A5A408FB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534150"/>
            <a:ext cx="422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8A94A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8A94A0"/>
                </a:solidFill>
                <a:latin typeface="Microsoft YaHei UI"/>
                <a:ea typeface="Microsoft YaHei UI"/>
                <a:cs typeface="Microsoft YaHei UI"/>
              </a:rPr>
              <a:t>GPT-Image 2 Edit + Dreamina / Seedance 2.0 + Multi AGENT Workflow</a:t>
            </a:r>
          </a:p>
        </p:txBody>
      </p:sp>
    </p:spTree>
    <p:extLst>
      <p:ext uri="{BB962C8B-B14F-4D97-AF65-F5344CB8AC3E}">
        <p14:creationId xmlns:p14="http://schemas.microsoft.com/office/powerpoint/2010/main" val="5687912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A3620D0F-B1F2-45DB-B89A-14DE5390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AIYA STUDIO / SYSTEM EVALUATION</a:t>
            </a:r>
          </a:p>
        </p:txBody>
      </p:sp>
      <p:sp>
        <p:nvSpPr>
          <p:cNvPr id="2" name="page-no">
            <a:extLst xmlns:a="http://schemas.openxmlformats.org/drawingml/2006/main">
              <a:ext uri="{FF2B5EF4-FFF2-40B4-BE49-F238E27FC236}">
                <a16:creationId xmlns:a16="http://schemas.microsoft.com/office/drawing/2014/main" id="{C25BC517-3DB8-4DC3-B2CC-BF6F2F21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9550"/>
            <a:ext cx="91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850" b="1">
                <a:solidFill>
                  <a:srgbClr val="D8DDE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50" b="1">
                <a:solidFill>
                  <a:srgbClr val="D8DDE3"/>
                </a:solidFill>
                <a:latin typeface="Microsoft YaHei UI"/>
                <a:ea typeface="Microsoft YaHei UI"/>
                <a:cs typeface="Microsoft YaHei UI"/>
              </a:rPr>
              <a:t>08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3EA5311C-AA3D-4B0C-AC25-22F576F4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4" name="kicker">
            <a:extLst xmlns:a="http://schemas.openxmlformats.org/drawingml/2006/main">
              <a:ext uri="{FF2B5EF4-FFF2-40B4-BE49-F238E27FC236}">
                <a16:creationId xmlns:a16="http://schemas.microsoft.com/office/drawing/2014/main" id="{24758BCC-7B16-464F-906C-F8D8DA07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MARKET BENCHMARK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E3D8539-F451-4D22-A949-C23ADC3F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075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对标平台评估：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075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无限画布只是低阶工具类参考。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0DCC82D2-E840-49FE-86A0-13AA3E11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88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88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核心对标不是“谁有画布”，而是谁能把多 AGENT 制片认知封装成企业内部生产流程。</a:t>
            </a:r>
          </a:p>
        </p:txBody>
      </p:sp>
      <p:sp>
        <p:nvSpPr>
          <p:cNvPr id="7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E23D153C-3345-49C9-9574-E1ED5580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14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3"/>
          </a:solidFill>
          <a:ln xmlns:a="http://schemas.openxmlformats.org/drawingml/2006/main" w="0">
            <a:solidFill>
              <a:srgbClr val="D8DDE3"/>
            </a:solidFill>
            <a:prstDash val="solid"/>
          </a:ln>
        </p:spPr>
      </p:sp>
      <p:sp>
        <p:nvSpPr>
          <p:cNvPr id="8" name="table-head">
            <a:extLst xmlns:a="http://schemas.openxmlformats.org/drawingml/2006/main">
              <a:ext uri="{FF2B5EF4-FFF2-40B4-BE49-F238E27FC236}">
                <a16:creationId xmlns:a16="http://schemas.microsoft.com/office/drawing/2014/main" id="{8A25E3EA-7039-4932-BBF7-3795B155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18097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80B0F"/>
          </a:solidFill>
          <a:ln xmlns:a="http://schemas.openxmlformats.org/drawingml/2006/main" w="9525">
            <a:solidFill>
              <a:srgbClr val="080B0F"/>
            </a:solidFill>
            <a:prstDash val="solid"/>
          </a:ln>
        </p:spPr>
      </p:sp>
      <p:sp>
        <p:nvSpPr>
          <p:cNvPr id="9" name="table-head-text">
            <a:extLst xmlns:a="http://schemas.openxmlformats.org/drawingml/2006/main">
              <a:ext uri="{FF2B5EF4-FFF2-40B4-BE49-F238E27FC236}">
                <a16:creationId xmlns:a16="http://schemas.microsoft.com/office/drawing/2014/main" id="{57E0A7FD-6C9B-4C53-8D85-EE326C38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62300"/>
            <a:ext cx="1581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平台类型</a:t>
            </a:r>
          </a:p>
        </p:txBody>
      </p:sp>
      <p:sp>
        <p:nvSpPr>
          <p:cNvPr id="10" name="table-head">
            <a:extLst xmlns:a="http://schemas.openxmlformats.org/drawingml/2006/main">
              <a:ext uri="{FF2B5EF4-FFF2-40B4-BE49-F238E27FC236}">
                <a16:creationId xmlns:a16="http://schemas.microsoft.com/office/drawing/2014/main" id="{6470D9B1-F597-473D-9E44-E4868DE4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48000"/>
            <a:ext cx="2047875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80B0F"/>
          </a:solidFill>
          <a:ln xmlns:a="http://schemas.openxmlformats.org/drawingml/2006/main" w="9525">
            <a:solidFill>
              <a:srgbClr val="080B0F"/>
            </a:solidFill>
            <a:prstDash val="solid"/>
          </a:ln>
        </p:spPr>
      </p:sp>
      <p:sp>
        <p:nvSpPr>
          <p:cNvPr id="11" name="table-head-text">
            <a:extLst xmlns:a="http://schemas.openxmlformats.org/drawingml/2006/main">
              <a:ext uri="{FF2B5EF4-FFF2-40B4-BE49-F238E27FC236}">
                <a16:creationId xmlns:a16="http://schemas.microsoft.com/office/drawing/2014/main" id="{75B57C0D-1411-4D16-A940-2C50DBDF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62300"/>
            <a:ext cx="1819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代表平台</a:t>
            </a:r>
          </a:p>
        </p:txBody>
      </p:sp>
      <p:sp>
        <p:nvSpPr>
          <p:cNvPr id="12" name="table-head">
            <a:extLst xmlns:a="http://schemas.openxmlformats.org/drawingml/2006/main">
              <a:ext uri="{FF2B5EF4-FFF2-40B4-BE49-F238E27FC236}">
                <a16:creationId xmlns:a16="http://schemas.microsoft.com/office/drawing/2014/main" id="{3A505B65-09F1-4304-8523-C063B0EF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048000"/>
            <a:ext cx="1952625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80B0F"/>
          </a:solidFill>
          <a:ln xmlns:a="http://schemas.openxmlformats.org/drawingml/2006/main" w="9525">
            <a:solidFill>
              <a:srgbClr val="080B0F"/>
            </a:solidFill>
            <a:prstDash val="solid"/>
          </a:ln>
        </p:spPr>
      </p:sp>
      <p:sp>
        <p:nvSpPr>
          <p:cNvPr id="13" name="table-head-text">
            <a:extLst xmlns:a="http://schemas.openxmlformats.org/drawingml/2006/main">
              <a:ext uri="{FF2B5EF4-FFF2-40B4-BE49-F238E27FC236}">
                <a16:creationId xmlns:a16="http://schemas.microsoft.com/office/drawing/2014/main" id="{DD35BF71-18C5-4CAD-954C-C5A71700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62300"/>
            <a:ext cx="17240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核心定位</a:t>
            </a:r>
          </a:p>
        </p:txBody>
      </p:sp>
      <p:sp>
        <p:nvSpPr>
          <p:cNvPr id="14" name="table-head">
            <a:extLst xmlns:a="http://schemas.openxmlformats.org/drawingml/2006/main">
              <a:ext uri="{FF2B5EF4-FFF2-40B4-BE49-F238E27FC236}">
                <a16:creationId xmlns:a16="http://schemas.microsoft.com/office/drawing/2014/main" id="{84496DB7-167E-4954-8FBB-A40AA262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48000"/>
            <a:ext cx="2143125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80B0F"/>
          </a:solidFill>
          <a:ln xmlns:a="http://schemas.openxmlformats.org/drawingml/2006/main" w="9525">
            <a:solidFill>
              <a:srgbClr val="080B0F"/>
            </a:solidFill>
            <a:prstDash val="solid"/>
          </a:ln>
        </p:spPr>
      </p:sp>
      <p:sp>
        <p:nvSpPr>
          <p:cNvPr id="15" name="table-head-text">
            <a:extLst xmlns:a="http://schemas.openxmlformats.org/drawingml/2006/main">
              <a:ext uri="{FF2B5EF4-FFF2-40B4-BE49-F238E27FC236}">
                <a16:creationId xmlns:a16="http://schemas.microsoft.com/office/drawing/2014/main" id="{EA2C09E4-E016-4C2D-AE3C-1F55C96F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62300"/>
            <a:ext cx="19145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操作员要求</a:t>
            </a:r>
          </a:p>
        </p:txBody>
      </p:sp>
      <p:sp>
        <p:nvSpPr>
          <p:cNvPr id="16" name="table-head">
            <a:extLst xmlns:a="http://schemas.openxmlformats.org/drawingml/2006/main">
              <a:ext uri="{FF2B5EF4-FFF2-40B4-BE49-F238E27FC236}">
                <a16:creationId xmlns:a16="http://schemas.microsoft.com/office/drawing/2014/main" id="{30164DE1-EEF0-4F12-914A-9728C341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048000"/>
            <a:ext cx="3171825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80B0F"/>
          </a:solidFill>
          <a:ln xmlns:a="http://schemas.openxmlformats.org/drawingml/2006/main" w="9525">
            <a:solidFill>
              <a:srgbClr val="080B0F"/>
            </a:solidFill>
            <a:prstDash val="solid"/>
          </a:ln>
        </p:spPr>
      </p:sp>
      <p:sp>
        <p:nvSpPr>
          <p:cNvPr id="17" name="table-head-text">
            <a:extLst xmlns:a="http://schemas.openxmlformats.org/drawingml/2006/main">
              <a:ext uri="{FF2B5EF4-FFF2-40B4-BE49-F238E27FC236}">
                <a16:creationId xmlns:a16="http://schemas.microsoft.com/office/drawing/2014/main" id="{B1E26CEB-DAAF-4D10-BD96-2CC07B55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162300"/>
            <a:ext cx="2943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与本系统差异</a:t>
            </a:r>
          </a:p>
        </p:txBody>
      </p:sp>
      <p:sp>
        <p:nvSpPr>
          <p:cNvPr id="18" name="table-cell">
            <a:extLst xmlns:a="http://schemas.openxmlformats.org/drawingml/2006/main">
              <a:ext uri="{FF2B5EF4-FFF2-40B4-BE49-F238E27FC236}">
                <a16:creationId xmlns:a16="http://schemas.microsoft.com/office/drawing/2014/main" id="{FBC4D914-3FEE-4213-B281-62C06390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48050"/>
            <a:ext cx="1809750" cy="52387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1F4"/>
            </a:solidFill>
            <a:prstDash val="solid"/>
          </a:ln>
        </p:spPr>
      </p:sp>
      <p:sp>
        <p:nvSpPr>
          <p:cNvPr id="19" name="table-text">
            <a:extLst xmlns:a="http://schemas.openxmlformats.org/drawingml/2006/main">
              <a:ext uri="{FF2B5EF4-FFF2-40B4-BE49-F238E27FC236}">
                <a16:creationId xmlns:a16="http://schemas.microsoft.com/office/drawing/2014/main" id="{D601DE8A-1058-48B9-A46E-FF020144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960" b="1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60" b="1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无限画布 / Boards</a:t>
            </a:r>
          </a:p>
        </p:txBody>
      </p:sp>
      <p:sp>
        <p:nvSpPr>
          <p:cNvPr id="20" name="table-cell">
            <a:extLst xmlns:a="http://schemas.openxmlformats.org/drawingml/2006/main">
              <a:ext uri="{FF2B5EF4-FFF2-40B4-BE49-F238E27FC236}">
                <a16:creationId xmlns:a16="http://schemas.microsoft.com/office/drawing/2014/main" id="{3771DF83-BAEC-4026-9535-B9A30EEC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448050"/>
            <a:ext cx="2047875" cy="52387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1F4"/>
            </a:solidFill>
            <a:prstDash val="solid"/>
          </a:ln>
        </p:spPr>
      </p:sp>
      <p:sp>
        <p:nvSpPr>
          <p:cNvPr id="21" name="table-text">
            <a:extLst xmlns:a="http://schemas.openxmlformats.org/drawingml/2006/main">
              <a:ext uri="{FF2B5EF4-FFF2-40B4-BE49-F238E27FC236}">
                <a16:creationId xmlns:a16="http://schemas.microsoft.com/office/drawing/2014/main" id="{D730F946-7CB2-4FCB-9FDB-1AE4288B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543300"/>
            <a:ext cx="1819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86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Adobe Firefly Boards</a:t>
            </a:r>
          </a:p>
        </p:txBody>
      </p:sp>
      <p:sp>
        <p:nvSpPr>
          <p:cNvPr id="22" name="table-cell">
            <a:extLst xmlns:a="http://schemas.openxmlformats.org/drawingml/2006/main">
              <a:ext uri="{FF2B5EF4-FFF2-40B4-BE49-F238E27FC236}">
                <a16:creationId xmlns:a16="http://schemas.microsoft.com/office/drawing/2014/main" id="{3993AF4E-06CB-4EAE-99A2-62AAE33E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448050"/>
            <a:ext cx="1952625" cy="52387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1F4"/>
            </a:solidFill>
            <a:prstDash val="solid"/>
          </a:ln>
        </p:spPr>
      </p:sp>
      <p:sp>
        <p:nvSpPr>
          <p:cNvPr id="23" name="table-text">
            <a:extLst xmlns:a="http://schemas.openxmlformats.org/drawingml/2006/main">
              <a:ext uri="{FF2B5EF4-FFF2-40B4-BE49-F238E27FC236}">
                <a16:creationId xmlns:a16="http://schemas.microsoft.com/office/drawing/2014/main" id="{EB1942DB-7943-4A17-B13B-66ABD067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543300"/>
            <a:ext cx="1724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86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视觉协作容器</a:t>
            </a:r>
          </a:p>
        </p:txBody>
      </p:sp>
      <p:sp>
        <p:nvSpPr>
          <p:cNvPr id="24" name="table-cell">
            <a:extLst xmlns:a="http://schemas.openxmlformats.org/drawingml/2006/main">
              <a:ext uri="{FF2B5EF4-FFF2-40B4-BE49-F238E27FC236}">
                <a16:creationId xmlns:a16="http://schemas.microsoft.com/office/drawing/2014/main" id="{95B65B32-C980-4A3F-A9F6-8623FE2F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48050"/>
            <a:ext cx="2143125" cy="52387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1F4"/>
            </a:solidFill>
            <a:prstDash val="solid"/>
          </a:ln>
        </p:spPr>
      </p:sp>
      <p:sp>
        <p:nvSpPr>
          <p:cNvPr id="25" name="table-text">
            <a:extLst xmlns:a="http://schemas.openxmlformats.org/drawingml/2006/main">
              <a:ext uri="{FF2B5EF4-FFF2-40B4-BE49-F238E27FC236}">
                <a16:creationId xmlns:a16="http://schemas.microsoft.com/office/drawing/2014/main" id="{7F85B515-76D9-40B0-822D-0BCAA332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43300"/>
            <a:ext cx="191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86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要会拆解、摆放、判断</a:t>
            </a:r>
          </a:p>
        </p:txBody>
      </p:sp>
      <p:sp>
        <p:nvSpPr>
          <p:cNvPr id="26" name="table-cell">
            <a:extLst xmlns:a="http://schemas.openxmlformats.org/drawingml/2006/main">
              <a:ext uri="{FF2B5EF4-FFF2-40B4-BE49-F238E27FC236}">
                <a16:creationId xmlns:a16="http://schemas.microsoft.com/office/drawing/2014/main" id="{6F2D8128-2FD7-4E24-9379-ED1A7793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448050"/>
            <a:ext cx="3171825" cy="52387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1F4"/>
            </a:solidFill>
            <a:prstDash val="solid"/>
          </a:ln>
        </p:spPr>
      </p:sp>
      <p:sp>
        <p:nvSpPr>
          <p:cNvPr id="27" name="table-text">
            <a:extLst xmlns:a="http://schemas.openxmlformats.org/drawingml/2006/main">
              <a:ext uri="{FF2B5EF4-FFF2-40B4-BE49-F238E27FC236}">
                <a16:creationId xmlns:a16="http://schemas.microsoft.com/office/drawing/2014/main" id="{D3844186-E964-4BA4-B49A-2835BACF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543300"/>
            <a:ext cx="2943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86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只是创作容器，不能替代多 AGENT 生产链</a:t>
            </a:r>
          </a:p>
        </p:txBody>
      </p:sp>
      <p:sp>
        <p:nvSpPr>
          <p:cNvPr id="28" name="table-cell">
            <a:extLst xmlns:a="http://schemas.openxmlformats.org/drawingml/2006/main">
              <a:ext uri="{FF2B5EF4-FFF2-40B4-BE49-F238E27FC236}">
                <a16:creationId xmlns:a16="http://schemas.microsoft.com/office/drawing/2014/main" id="{47586488-0ECD-43D0-AF74-E7E90C2B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1809750" cy="52387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1F4"/>
            </a:solidFill>
            <a:prstDash val="solid"/>
          </a:ln>
        </p:spPr>
      </p:sp>
      <p:sp>
        <p:nvSpPr>
          <p:cNvPr id="29" name="table-text">
            <a:extLst xmlns:a="http://schemas.openxmlformats.org/drawingml/2006/main">
              <a:ext uri="{FF2B5EF4-FFF2-40B4-BE49-F238E27FC236}">
                <a16:creationId xmlns:a16="http://schemas.microsoft.com/office/drawing/2014/main" id="{B36E45B2-719E-4C0A-A395-A63051C9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6717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960" b="1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60" b="1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AI Storyboard</a:t>
            </a:r>
          </a:p>
        </p:txBody>
      </p:sp>
      <p:sp>
        <p:nvSpPr>
          <p:cNvPr id="30" name="table-cell">
            <a:extLst xmlns:a="http://schemas.openxmlformats.org/drawingml/2006/main">
              <a:ext uri="{FF2B5EF4-FFF2-40B4-BE49-F238E27FC236}">
                <a16:creationId xmlns:a16="http://schemas.microsoft.com/office/drawing/2014/main" id="{A9F293F1-8E55-4504-8E02-7D07166D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71925"/>
            <a:ext cx="2047875" cy="52387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1F4"/>
            </a:solidFill>
            <a:prstDash val="solid"/>
          </a:ln>
        </p:spPr>
      </p:sp>
      <p:sp>
        <p:nvSpPr>
          <p:cNvPr id="31" name="table-text">
            <a:extLst xmlns:a="http://schemas.openxmlformats.org/drawingml/2006/main">
              <a:ext uri="{FF2B5EF4-FFF2-40B4-BE49-F238E27FC236}">
                <a16:creationId xmlns:a16="http://schemas.microsoft.com/office/drawing/2014/main" id="{35E17B64-6DCF-47E8-87D9-4C88654E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67175"/>
            <a:ext cx="1819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86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Boords / Katalist</a:t>
            </a:r>
          </a:p>
        </p:txBody>
      </p:sp>
      <p:sp>
        <p:nvSpPr>
          <p:cNvPr id="32" name="table-cell">
            <a:extLst xmlns:a="http://schemas.openxmlformats.org/drawingml/2006/main">
              <a:ext uri="{FF2B5EF4-FFF2-40B4-BE49-F238E27FC236}">
                <a16:creationId xmlns:a16="http://schemas.microsoft.com/office/drawing/2014/main" id="{8B3152E8-6D2C-4E71-A193-06679F19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971925"/>
            <a:ext cx="1952625" cy="52387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1F4"/>
            </a:solidFill>
            <a:prstDash val="solid"/>
          </a:ln>
        </p:spPr>
      </p:sp>
      <p:sp>
        <p:nvSpPr>
          <p:cNvPr id="33" name="table-text">
            <a:extLst xmlns:a="http://schemas.openxmlformats.org/drawingml/2006/main">
              <a:ext uri="{FF2B5EF4-FFF2-40B4-BE49-F238E27FC236}">
                <a16:creationId xmlns:a16="http://schemas.microsoft.com/office/drawing/2014/main" id="{B24FD3A6-CC47-40EC-9BAC-78B44C2F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067175"/>
            <a:ext cx="1724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86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分镜生成和故事板协作</a:t>
            </a:r>
          </a:p>
        </p:txBody>
      </p:sp>
      <p:sp>
        <p:nvSpPr>
          <p:cNvPr id="34" name="table-cell">
            <a:extLst xmlns:a="http://schemas.openxmlformats.org/drawingml/2006/main">
              <a:ext uri="{FF2B5EF4-FFF2-40B4-BE49-F238E27FC236}">
                <a16:creationId xmlns:a16="http://schemas.microsoft.com/office/drawing/2014/main" id="{24366D3B-A41B-4B96-A056-8C780AE6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71925"/>
            <a:ext cx="2143125" cy="52387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1F4"/>
            </a:solidFill>
            <a:prstDash val="solid"/>
          </a:ln>
        </p:spPr>
      </p:sp>
      <p:sp>
        <p:nvSpPr>
          <p:cNvPr id="35" name="table-text">
            <a:extLst xmlns:a="http://schemas.openxmlformats.org/drawingml/2006/main">
              <a:ext uri="{FF2B5EF4-FFF2-40B4-BE49-F238E27FC236}">
                <a16:creationId xmlns:a16="http://schemas.microsoft.com/office/drawing/2014/main" id="{D4C9496B-7939-45FB-99FB-3658AD80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67175"/>
            <a:ext cx="191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86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仍需懂镜头与审美</a:t>
            </a:r>
          </a:p>
        </p:txBody>
      </p:sp>
      <p:sp>
        <p:nvSpPr>
          <p:cNvPr id="36" name="table-cell">
            <a:extLst xmlns:a="http://schemas.openxmlformats.org/drawingml/2006/main">
              <a:ext uri="{FF2B5EF4-FFF2-40B4-BE49-F238E27FC236}">
                <a16:creationId xmlns:a16="http://schemas.microsoft.com/office/drawing/2014/main" id="{492EC39D-B1E7-4AD4-B936-393DCCF9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971925"/>
            <a:ext cx="3171825" cy="52387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1F4"/>
            </a:solidFill>
            <a:prstDash val="solid"/>
          </a:ln>
        </p:spPr>
      </p:sp>
      <p:sp>
        <p:nvSpPr>
          <p:cNvPr id="37" name="table-text">
            <a:extLst xmlns:a="http://schemas.openxmlformats.org/drawingml/2006/main">
              <a:ext uri="{FF2B5EF4-FFF2-40B4-BE49-F238E27FC236}">
                <a16:creationId xmlns:a16="http://schemas.microsoft.com/office/drawing/2014/main" id="{4CB28CB3-5772-4C08-9BAF-798FDDA2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067175"/>
            <a:ext cx="2943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86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偏单点辅助，不封装完整制片认知</a:t>
            </a:r>
          </a:p>
        </p:txBody>
      </p:sp>
      <p:sp>
        <p:nvSpPr>
          <p:cNvPr id="38" name="table-cell">
            <a:extLst xmlns:a="http://schemas.openxmlformats.org/drawingml/2006/main">
              <a:ext uri="{FF2B5EF4-FFF2-40B4-BE49-F238E27FC236}">
                <a16:creationId xmlns:a16="http://schemas.microsoft.com/office/drawing/2014/main" id="{35A33942-2205-448B-9B80-E165306F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95800"/>
            <a:ext cx="1809750" cy="52387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1F4"/>
            </a:solidFill>
            <a:prstDash val="solid"/>
          </a:ln>
        </p:spPr>
      </p:sp>
      <p:sp>
        <p:nvSpPr>
          <p:cNvPr id="39" name="table-text">
            <a:extLst xmlns:a="http://schemas.openxmlformats.org/drawingml/2006/main">
              <a:ext uri="{FF2B5EF4-FFF2-40B4-BE49-F238E27FC236}">
                <a16:creationId xmlns:a16="http://schemas.microsoft.com/office/drawing/2014/main" id="{B2AB5BCA-5755-48EF-9663-39441724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960" b="1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60" b="1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生成工具平台</a:t>
            </a:r>
          </a:p>
        </p:txBody>
      </p:sp>
      <p:sp>
        <p:nvSpPr>
          <p:cNvPr id="40" name="table-cell">
            <a:extLst xmlns:a="http://schemas.openxmlformats.org/drawingml/2006/main">
              <a:ext uri="{FF2B5EF4-FFF2-40B4-BE49-F238E27FC236}">
                <a16:creationId xmlns:a16="http://schemas.microsoft.com/office/drawing/2014/main" id="{B3A07738-CFE7-445D-B98F-F8B1995E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495800"/>
            <a:ext cx="2047875" cy="52387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1F4"/>
            </a:solidFill>
            <a:prstDash val="solid"/>
          </a:ln>
        </p:spPr>
      </p:sp>
      <p:sp>
        <p:nvSpPr>
          <p:cNvPr id="41" name="table-text">
            <a:extLst xmlns:a="http://schemas.openxmlformats.org/drawingml/2006/main">
              <a:ext uri="{FF2B5EF4-FFF2-40B4-BE49-F238E27FC236}">
                <a16:creationId xmlns:a16="http://schemas.microsoft.com/office/drawing/2014/main" id="{C82AF892-248F-47EB-8EC9-7722C7D9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591050"/>
            <a:ext cx="1819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86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Runway</a:t>
            </a:r>
          </a:p>
        </p:txBody>
      </p:sp>
      <p:sp>
        <p:nvSpPr>
          <p:cNvPr id="42" name="table-cell">
            <a:extLst xmlns:a="http://schemas.openxmlformats.org/drawingml/2006/main">
              <a:ext uri="{FF2B5EF4-FFF2-40B4-BE49-F238E27FC236}">
                <a16:creationId xmlns:a16="http://schemas.microsoft.com/office/drawing/2014/main" id="{15F167CE-C301-4E7B-A543-7D758F0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495800"/>
            <a:ext cx="1952625" cy="52387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1F4"/>
            </a:solidFill>
            <a:prstDash val="solid"/>
          </a:ln>
        </p:spPr>
      </p:sp>
      <p:sp>
        <p:nvSpPr>
          <p:cNvPr id="43" name="table-text">
            <a:extLst xmlns:a="http://schemas.openxmlformats.org/drawingml/2006/main">
              <a:ext uri="{FF2B5EF4-FFF2-40B4-BE49-F238E27FC236}">
                <a16:creationId xmlns:a16="http://schemas.microsoft.com/office/drawing/2014/main" id="{E17B16D4-74A8-4AF2-BB6B-7FB6DC65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591050"/>
            <a:ext cx="1724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86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视频模型和创意生成工具</a:t>
            </a:r>
          </a:p>
        </p:txBody>
      </p:sp>
      <p:sp>
        <p:nvSpPr>
          <p:cNvPr id="44" name="table-cell">
            <a:extLst xmlns:a="http://schemas.openxmlformats.org/drawingml/2006/main">
              <a:ext uri="{FF2B5EF4-FFF2-40B4-BE49-F238E27FC236}">
                <a16:creationId xmlns:a16="http://schemas.microsoft.com/office/drawing/2014/main" id="{04E1B075-1DC7-46F8-B50A-60361BAB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95800"/>
            <a:ext cx="2143125" cy="52387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1F4"/>
            </a:solidFill>
            <a:prstDash val="solid"/>
          </a:ln>
        </p:spPr>
      </p:sp>
      <p:sp>
        <p:nvSpPr>
          <p:cNvPr id="45" name="table-text">
            <a:extLst xmlns:a="http://schemas.openxmlformats.org/drawingml/2006/main">
              <a:ext uri="{FF2B5EF4-FFF2-40B4-BE49-F238E27FC236}">
                <a16:creationId xmlns:a16="http://schemas.microsoft.com/office/drawing/2014/main" id="{34D3A0B1-84F4-4B73-A80C-BD29F438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91050"/>
            <a:ext cx="191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86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要会模型、素材、prompt</a:t>
            </a:r>
          </a:p>
        </p:txBody>
      </p:sp>
      <p:sp>
        <p:nvSpPr>
          <p:cNvPr id="46" name="table-cell">
            <a:extLst xmlns:a="http://schemas.openxmlformats.org/drawingml/2006/main">
              <a:ext uri="{FF2B5EF4-FFF2-40B4-BE49-F238E27FC236}">
                <a16:creationId xmlns:a16="http://schemas.microsoft.com/office/drawing/2014/main" id="{84AB1004-D52B-4A76-93AB-C74D857C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495800"/>
            <a:ext cx="3171825" cy="52387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1F4"/>
            </a:solidFill>
            <a:prstDash val="solid"/>
          </a:ln>
        </p:spPr>
      </p:sp>
      <p:sp>
        <p:nvSpPr>
          <p:cNvPr id="47" name="table-text">
            <a:extLst xmlns:a="http://schemas.openxmlformats.org/drawingml/2006/main">
              <a:ext uri="{FF2B5EF4-FFF2-40B4-BE49-F238E27FC236}">
                <a16:creationId xmlns:a16="http://schemas.microsoft.com/office/drawing/2014/main" id="{6EFC9252-9805-4452-8CDB-D6C8DD6B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591050"/>
            <a:ext cx="2943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86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强在模型，不等于企业内部工作流</a:t>
            </a:r>
          </a:p>
        </p:txBody>
      </p:sp>
      <p:sp>
        <p:nvSpPr>
          <p:cNvPr id="48" name="table-cell">
            <a:extLst xmlns:a="http://schemas.openxmlformats.org/drawingml/2006/main">
              <a:ext uri="{FF2B5EF4-FFF2-40B4-BE49-F238E27FC236}">
                <a16:creationId xmlns:a16="http://schemas.microsoft.com/office/drawing/2014/main" id="{36C4C818-1D8E-4B19-A93A-5AF9D53A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9675"/>
            <a:ext cx="1809750" cy="52387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1F4"/>
            </a:solidFill>
            <a:prstDash val="solid"/>
          </a:ln>
        </p:spPr>
      </p:sp>
      <p:sp>
        <p:nvSpPr>
          <p:cNvPr id="49" name="table-text">
            <a:extLst xmlns:a="http://schemas.openxmlformats.org/drawingml/2006/main">
              <a:ext uri="{FF2B5EF4-FFF2-40B4-BE49-F238E27FC236}">
                <a16:creationId xmlns:a16="http://schemas.microsoft.com/office/drawing/2014/main" id="{7A83E78E-1D67-4516-A2E8-721439A0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1492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960" b="1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60" b="1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AI 制片平台参考</a:t>
            </a:r>
          </a:p>
        </p:txBody>
      </p:sp>
      <p:sp>
        <p:nvSpPr>
          <p:cNvPr id="50" name="table-cell">
            <a:extLst xmlns:a="http://schemas.openxmlformats.org/drawingml/2006/main">
              <a:ext uri="{FF2B5EF4-FFF2-40B4-BE49-F238E27FC236}">
                <a16:creationId xmlns:a16="http://schemas.microsoft.com/office/drawing/2014/main" id="{20E1FF32-4C7C-4C4D-BBA6-3B0A120D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19675"/>
            <a:ext cx="2047875" cy="52387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1F4"/>
            </a:solidFill>
            <a:prstDash val="solid"/>
          </a:ln>
        </p:spPr>
      </p:sp>
      <p:sp>
        <p:nvSpPr>
          <p:cNvPr id="51" name="table-text">
            <a:extLst xmlns:a="http://schemas.openxmlformats.org/drawingml/2006/main">
              <a:ext uri="{FF2B5EF4-FFF2-40B4-BE49-F238E27FC236}">
                <a16:creationId xmlns:a16="http://schemas.microsoft.com/office/drawing/2014/main" id="{D89B6DF4-77EA-4B20-98B8-1042602D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114925"/>
            <a:ext cx="1819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86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LTX Studio</a:t>
            </a:r>
          </a:p>
        </p:txBody>
      </p:sp>
      <p:sp>
        <p:nvSpPr>
          <p:cNvPr id="52" name="table-cell">
            <a:extLst xmlns:a="http://schemas.openxmlformats.org/drawingml/2006/main">
              <a:ext uri="{FF2B5EF4-FFF2-40B4-BE49-F238E27FC236}">
                <a16:creationId xmlns:a16="http://schemas.microsoft.com/office/drawing/2014/main" id="{AE53061B-4E88-4EA7-A64A-32EA076C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019675"/>
            <a:ext cx="1952625" cy="52387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1F4"/>
            </a:solidFill>
            <a:prstDash val="solid"/>
          </a:ln>
        </p:spPr>
      </p:sp>
      <p:sp>
        <p:nvSpPr>
          <p:cNvPr id="53" name="table-text">
            <a:extLst xmlns:a="http://schemas.openxmlformats.org/drawingml/2006/main">
              <a:ext uri="{FF2B5EF4-FFF2-40B4-BE49-F238E27FC236}">
                <a16:creationId xmlns:a16="http://schemas.microsoft.com/office/drawing/2014/main" id="{1586940A-44BB-415B-ABF3-0A12E840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114925"/>
            <a:ext cx="1724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86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脚本到视频的 AI studio</a:t>
            </a:r>
          </a:p>
        </p:txBody>
      </p:sp>
      <p:sp>
        <p:nvSpPr>
          <p:cNvPr id="54" name="table-cell">
            <a:extLst xmlns:a="http://schemas.openxmlformats.org/drawingml/2006/main">
              <a:ext uri="{FF2B5EF4-FFF2-40B4-BE49-F238E27FC236}">
                <a16:creationId xmlns:a16="http://schemas.microsoft.com/office/drawing/2014/main" id="{D9C66DA2-D226-4231-BE7D-455C6836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19675"/>
            <a:ext cx="2143125" cy="52387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1F4"/>
            </a:solidFill>
            <a:prstDash val="solid"/>
          </a:ln>
        </p:spPr>
      </p:sp>
      <p:sp>
        <p:nvSpPr>
          <p:cNvPr id="55" name="table-text">
            <a:extLst xmlns:a="http://schemas.openxmlformats.org/drawingml/2006/main">
              <a:ext uri="{FF2B5EF4-FFF2-40B4-BE49-F238E27FC236}">
                <a16:creationId xmlns:a16="http://schemas.microsoft.com/office/drawing/2014/main" id="{3225D743-9B38-4C93-B0F9-1BE0BCF8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14925"/>
            <a:ext cx="191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86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仍偏平台化操作</a:t>
            </a:r>
          </a:p>
        </p:txBody>
      </p:sp>
      <p:sp>
        <p:nvSpPr>
          <p:cNvPr id="56" name="table-cell">
            <a:extLst xmlns:a="http://schemas.openxmlformats.org/drawingml/2006/main">
              <a:ext uri="{FF2B5EF4-FFF2-40B4-BE49-F238E27FC236}">
                <a16:creationId xmlns:a16="http://schemas.microsoft.com/office/drawing/2014/main" id="{6CA93545-7DA4-4502-8D4C-ACF4FFE6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5019675"/>
            <a:ext cx="3171825" cy="52387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1F4"/>
            </a:solidFill>
            <a:prstDash val="solid"/>
          </a:ln>
        </p:spPr>
      </p:sp>
      <p:sp>
        <p:nvSpPr>
          <p:cNvPr id="57" name="table-text">
            <a:extLst xmlns:a="http://schemas.openxmlformats.org/drawingml/2006/main">
              <a:ext uri="{FF2B5EF4-FFF2-40B4-BE49-F238E27FC236}">
                <a16:creationId xmlns:a16="http://schemas.microsoft.com/office/drawing/2014/main" id="{9969FE5D-3F6E-44AD-8D14-B09E812E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114925"/>
            <a:ext cx="2943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86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可作为参考，但不是核心竞争目标</a:t>
            </a:r>
          </a:p>
        </p:txBody>
      </p:sp>
      <p:sp>
        <p:nvSpPr>
          <p:cNvPr id="58" name="table-cell">
            <a:extLst xmlns:a="http://schemas.openxmlformats.org/drawingml/2006/main">
              <a:ext uri="{FF2B5EF4-FFF2-40B4-BE49-F238E27FC236}">
                <a16:creationId xmlns:a16="http://schemas.microsoft.com/office/drawing/2014/main" id="{9CBB3496-CAAD-43D5-8BB0-10BD824B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43550"/>
            <a:ext cx="1809750" cy="52387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9F8FB"/>
          </a:solidFill>
          <a:ln xmlns:a="http://schemas.openxmlformats.org/drawingml/2006/main" w="9525">
            <a:solidFill>
              <a:srgbClr val="20A9C9"/>
            </a:solidFill>
            <a:prstDash val="solid"/>
          </a:ln>
        </p:spPr>
      </p:sp>
      <p:sp>
        <p:nvSpPr>
          <p:cNvPr id="59" name="table-text">
            <a:extLst xmlns:a="http://schemas.openxmlformats.org/drawingml/2006/main">
              <a:ext uri="{FF2B5EF4-FFF2-40B4-BE49-F238E27FC236}">
                <a16:creationId xmlns:a16="http://schemas.microsoft.com/office/drawing/2014/main" id="{DAD5C9A6-7BF5-4918-B3F9-88B16E4A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388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96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6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本系统</a:t>
            </a:r>
          </a:p>
        </p:txBody>
      </p:sp>
      <p:sp>
        <p:nvSpPr>
          <p:cNvPr id="60" name="table-cell">
            <a:extLst xmlns:a="http://schemas.openxmlformats.org/drawingml/2006/main">
              <a:ext uri="{FF2B5EF4-FFF2-40B4-BE49-F238E27FC236}">
                <a16:creationId xmlns:a16="http://schemas.microsoft.com/office/drawing/2014/main" id="{19146D53-B28B-492D-A76C-1AE70ED8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543550"/>
            <a:ext cx="2047875" cy="52387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9F8FB"/>
          </a:solidFill>
          <a:ln xmlns:a="http://schemas.openxmlformats.org/drawingml/2006/main" w="9525">
            <a:solidFill>
              <a:srgbClr val="20A9C9"/>
            </a:solidFill>
            <a:prstDash val="solid"/>
          </a:ln>
        </p:spPr>
      </p:sp>
      <p:sp>
        <p:nvSpPr>
          <p:cNvPr id="61" name="table-text">
            <a:extLst xmlns:a="http://schemas.openxmlformats.org/drawingml/2006/main">
              <a:ext uri="{FF2B5EF4-FFF2-40B4-BE49-F238E27FC236}">
                <a16:creationId xmlns:a16="http://schemas.microsoft.com/office/drawing/2014/main" id="{F33F27C5-8CC0-41A2-BC5C-30645D2C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638800"/>
            <a:ext cx="1819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96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6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Studio v3 Remote CN</a:t>
            </a:r>
          </a:p>
        </p:txBody>
      </p:sp>
      <p:sp>
        <p:nvSpPr>
          <p:cNvPr id="62" name="table-cell">
            <a:extLst xmlns:a="http://schemas.openxmlformats.org/drawingml/2006/main">
              <a:ext uri="{FF2B5EF4-FFF2-40B4-BE49-F238E27FC236}">
                <a16:creationId xmlns:a16="http://schemas.microsoft.com/office/drawing/2014/main" id="{6C07910C-5294-442A-A851-9A7F9599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543550"/>
            <a:ext cx="1952625" cy="52387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9F8FB"/>
          </a:solidFill>
          <a:ln xmlns:a="http://schemas.openxmlformats.org/drawingml/2006/main" w="9525">
            <a:solidFill>
              <a:srgbClr val="20A9C9"/>
            </a:solidFill>
            <a:prstDash val="solid"/>
          </a:ln>
        </p:spPr>
      </p:sp>
      <p:sp>
        <p:nvSpPr>
          <p:cNvPr id="63" name="table-text">
            <a:extLst xmlns:a="http://schemas.openxmlformats.org/drawingml/2006/main">
              <a:ext uri="{FF2B5EF4-FFF2-40B4-BE49-F238E27FC236}">
                <a16:creationId xmlns:a16="http://schemas.microsoft.com/office/drawing/2014/main" id="{FC670B1B-4306-4D2A-B7DE-6ABBF734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638800"/>
            <a:ext cx="1724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96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6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企业内部多 AGENT 制片工作流</a:t>
            </a:r>
          </a:p>
        </p:txBody>
      </p:sp>
      <p:sp>
        <p:nvSpPr>
          <p:cNvPr id="64" name="table-cell">
            <a:extLst xmlns:a="http://schemas.openxmlformats.org/drawingml/2006/main">
              <a:ext uri="{FF2B5EF4-FFF2-40B4-BE49-F238E27FC236}">
                <a16:creationId xmlns:a16="http://schemas.microsoft.com/office/drawing/2014/main" id="{5B8AF34D-9917-4086-ADA3-BE2A1528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543550"/>
            <a:ext cx="2143125" cy="52387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9F8FB"/>
          </a:solidFill>
          <a:ln xmlns:a="http://schemas.openxmlformats.org/drawingml/2006/main" w="9525">
            <a:solidFill>
              <a:srgbClr val="20A9C9"/>
            </a:solidFill>
            <a:prstDash val="solid"/>
          </a:ln>
        </p:spPr>
      </p:sp>
      <p:sp>
        <p:nvSpPr>
          <p:cNvPr id="65" name="table-text">
            <a:extLst xmlns:a="http://schemas.openxmlformats.org/drawingml/2006/main">
              <a:ext uri="{FF2B5EF4-FFF2-40B4-BE49-F238E27FC236}">
                <a16:creationId xmlns:a16="http://schemas.microsoft.com/office/drawing/2014/main" id="{37AB3A78-DAFD-4F22-B88B-4FBA432D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638800"/>
            <a:ext cx="191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96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6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低经验操作员 + 审稿确认</a:t>
            </a:r>
          </a:p>
        </p:txBody>
      </p:sp>
      <p:sp>
        <p:nvSpPr>
          <p:cNvPr id="66" name="table-cell">
            <a:extLst xmlns:a="http://schemas.openxmlformats.org/drawingml/2006/main">
              <a:ext uri="{FF2B5EF4-FFF2-40B4-BE49-F238E27FC236}">
                <a16:creationId xmlns:a16="http://schemas.microsoft.com/office/drawing/2014/main" id="{65C40DA3-A118-4447-A732-CB5B7340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5543550"/>
            <a:ext cx="3171825" cy="52387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9F8FB"/>
          </a:solidFill>
          <a:ln xmlns:a="http://schemas.openxmlformats.org/drawingml/2006/main" w="9525">
            <a:solidFill>
              <a:srgbClr val="20A9C9"/>
            </a:solidFill>
            <a:prstDash val="solid"/>
          </a:ln>
        </p:spPr>
      </p:sp>
      <p:sp>
        <p:nvSpPr>
          <p:cNvPr id="67" name="table-text">
            <a:extLst xmlns:a="http://schemas.openxmlformats.org/drawingml/2006/main">
              <a:ext uri="{FF2B5EF4-FFF2-40B4-BE49-F238E27FC236}">
                <a16:creationId xmlns:a16="http://schemas.microsoft.com/office/drawing/2014/main" id="{D25FB278-E738-49CD-B417-36E503A3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638800"/>
            <a:ext cx="2943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96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6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把导演、视觉、表演、分镜、prompt、队列封装成流程</a:t>
            </a:r>
          </a:p>
        </p:txBody>
      </p:sp>
      <p:sp>
        <p:nvSpPr>
          <p:cNvPr id="68" name="source-note">
            <a:extLst xmlns:a="http://schemas.openxmlformats.org/drawingml/2006/main">
              <a:ext uri="{FF2B5EF4-FFF2-40B4-BE49-F238E27FC236}">
                <a16:creationId xmlns:a16="http://schemas.microsoft.com/office/drawing/2014/main" id="{C7DD389D-425A-41E8-9EDC-6991C3A6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388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0">
                <a:solidFill>
                  <a:srgbClr val="8A94A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8A94A0"/>
                </a:solidFill>
                <a:latin typeface="Microsoft YaHei UI"/>
                <a:ea typeface="Microsoft YaHei UI"/>
                <a:cs typeface="Microsoft YaHei UI"/>
              </a:rPr>
              <a:t>公开定位参考：Adobe Firefly Boards、Boords、Katalist、Runway、LTX Studio 官方页面。</a:t>
            </a:r>
          </a:p>
        </p:txBody>
      </p:sp>
      <p:sp>
        <p:nvSpPr>
          <p:cNvPr id="6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4C334F7-5F88-4DE2-891B-C25A6860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70" name="footer-note">
            <a:extLst xmlns:a="http://schemas.openxmlformats.org/drawingml/2006/main">
              <a:ext uri="{FF2B5EF4-FFF2-40B4-BE49-F238E27FC236}">
                <a16:creationId xmlns:a16="http://schemas.microsoft.com/office/drawing/2014/main" id="{998F0FC4-AF4F-4A77-9BCB-7A8CC4E8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A94A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8A94A0"/>
                </a:solidFill>
                <a:latin typeface="Microsoft YaHei UI"/>
                <a:ea typeface="Microsoft YaHei UI"/>
                <a:cs typeface="Microsoft YaHei UI"/>
              </a:rPr>
              <a:t>对标口径：分类比较，不把无限画布当主竞争目标</a:t>
            </a:r>
          </a:p>
        </p:txBody>
      </p:sp>
      <p:sp>
        <p:nvSpPr>
          <p:cNvPr id="71" name="footer-stack">
            <a:extLst xmlns:a="http://schemas.openxmlformats.org/drawingml/2006/main">
              <a:ext uri="{FF2B5EF4-FFF2-40B4-BE49-F238E27FC236}">
                <a16:creationId xmlns:a16="http://schemas.microsoft.com/office/drawing/2014/main" id="{4E275ACF-3C2D-40C3-8B6E-8703B263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534150"/>
            <a:ext cx="422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8A94A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8A94A0"/>
                </a:solidFill>
                <a:latin typeface="Microsoft YaHei UI"/>
                <a:ea typeface="Microsoft YaHei UI"/>
                <a:cs typeface="Microsoft YaHei UI"/>
              </a:rPr>
              <a:t>GPT-Image 2 Edit + Dreamina / Seedance 2.0 + Multi AGENT Workflow</a:t>
            </a:r>
          </a:p>
        </p:txBody>
      </p:sp>
    </p:spTree>
    <p:extLst>
      <p:ext uri="{BB962C8B-B14F-4D97-AF65-F5344CB8AC3E}">
        <p14:creationId xmlns:p14="http://schemas.microsoft.com/office/powerpoint/2010/main" val="18844880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886705B0-D943-40D9-A624-F48C85BD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AIYA STUDIO / SYSTEM EVALUATION</a:t>
            </a:r>
          </a:p>
        </p:txBody>
      </p:sp>
      <p:sp>
        <p:nvSpPr>
          <p:cNvPr id="2" name="page-no">
            <a:extLst xmlns:a="http://schemas.openxmlformats.org/drawingml/2006/main">
              <a:ext uri="{FF2B5EF4-FFF2-40B4-BE49-F238E27FC236}">
                <a16:creationId xmlns:a16="http://schemas.microsoft.com/office/drawing/2014/main" id="{343FA216-F442-4376-B68F-0BE81EF3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9550"/>
            <a:ext cx="91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850" b="1">
                <a:solidFill>
                  <a:srgbClr val="D8DDE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50" b="1">
                <a:solidFill>
                  <a:srgbClr val="D8DDE3"/>
                </a:solidFill>
                <a:latin typeface="Microsoft YaHei UI"/>
                <a:ea typeface="Microsoft YaHei UI"/>
                <a:cs typeface="Microsoft YaHei UI"/>
              </a:rPr>
              <a:t>09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BBA95747-A1C4-4596-B028-166D3B18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4" name="kicker">
            <a:extLst xmlns:a="http://schemas.openxmlformats.org/drawingml/2006/main">
              <a:ext uri="{FF2B5EF4-FFF2-40B4-BE49-F238E27FC236}">
                <a16:creationId xmlns:a16="http://schemas.microsoft.com/office/drawing/2014/main" id="{FF267FFF-F78F-46AD-A10B-24A52890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BUSINESS VALUE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D763E53-D2A7-4C58-AA4A-D1E8E04A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075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商业价值评估：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075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重点不是省几个按钮，而是降低用人成本。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21E04CEB-15B3-45D8-8962-A4239DDD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88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88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商业价值来自岗位替代、培训周期缩短、产能复制和内部资产沉淀。</a:t>
            </a:r>
          </a:p>
        </p:txBody>
      </p:sp>
      <p:sp>
        <p:nvSpPr>
          <p:cNvPr id="7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F4850EFC-4AAD-40C6-A908-5992AFF7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14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3"/>
          </a:solidFill>
          <a:ln xmlns:a="http://schemas.openxmlformats.org/drawingml/2006/main" w="0">
            <a:solidFill>
              <a:srgbClr val="D8DDE3"/>
            </a:solidFill>
            <a:prstDash val="solid"/>
          </a:ln>
        </p:spPr>
      </p:sp>
      <p:sp>
        <p:nvSpPr>
          <p:cNvPr id="8" name="salary-left">
            <a:extLst xmlns:a="http://schemas.openxmlformats.org/drawingml/2006/main">
              <a:ext uri="{FF2B5EF4-FFF2-40B4-BE49-F238E27FC236}">
                <a16:creationId xmlns:a16="http://schemas.microsoft.com/office/drawing/2014/main" id="{9A1ACA5E-3D54-4538-9CBA-360E0A82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0400"/>
            <a:ext cx="4953000" cy="2000250"/>
          </a:xfrm>
          <a:prstGeom xmlns:a="http://schemas.openxmlformats.org/drawingml/2006/main" prst="roundRect">
            <a:avLst>
              <a:gd name="adj" fmla="val 952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salary-left-k">
            <a:extLst xmlns:a="http://schemas.openxmlformats.org/drawingml/2006/main">
              <a:ext uri="{FF2B5EF4-FFF2-40B4-BE49-F238E27FC236}">
                <a16:creationId xmlns:a16="http://schemas.microsoft.com/office/drawing/2014/main" id="{7D06076D-C178-4873-8886-4039314B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B244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B2443A"/>
                </a:solidFill>
                <a:latin typeface="Microsoft YaHei UI"/>
                <a:ea typeface="Microsoft YaHei UI"/>
                <a:cs typeface="Microsoft YaHei UI"/>
              </a:rPr>
              <a:t>传统方案</a:t>
            </a:r>
          </a:p>
        </p:txBody>
      </p:sp>
      <p:sp>
        <p:nvSpPr>
          <p:cNvPr id="10" name="salary-left-title">
            <a:extLst xmlns:a="http://schemas.openxmlformats.org/drawingml/2006/main">
              <a:ext uri="{FF2B5EF4-FFF2-40B4-BE49-F238E27FC236}">
                <a16:creationId xmlns:a16="http://schemas.microsoft.com/office/drawing/2014/main" id="{89B2E2CE-8D0B-4EBF-A0D8-A52F4C09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719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高级复合操作员</a:t>
            </a:r>
          </a:p>
        </p:txBody>
      </p:sp>
      <p:sp>
        <p:nvSpPr>
          <p:cNvPr id="11" name="salary-left-body">
            <a:extLst xmlns:a="http://schemas.openxmlformats.org/drawingml/2006/main">
              <a:ext uri="{FF2B5EF4-FFF2-40B4-BE49-F238E27FC236}">
                <a16:creationId xmlns:a16="http://schemas.microsoft.com/office/drawing/2014/main" id="{F82E4662-8EB8-4710-A435-DE90D676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需要同时理解 prompt、分镜、构图、灯光、角色一致性、模型失败修复和视频生成。招聘贵、培训慢、复制难。</a:t>
            </a:r>
          </a:p>
        </p:txBody>
      </p:sp>
      <p:sp>
        <p:nvSpPr>
          <p:cNvPr id="12" name="salary-right">
            <a:extLst xmlns:a="http://schemas.openxmlformats.org/drawingml/2006/main">
              <a:ext uri="{FF2B5EF4-FFF2-40B4-BE49-F238E27FC236}">
                <a16:creationId xmlns:a16="http://schemas.microsoft.com/office/drawing/2014/main" id="{023FCB14-7A6A-4EFD-A13A-712D193D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00400"/>
            <a:ext cx="4953000" cy="2000250"/>
          </a:xfrm>
          <a:prstGeom xmlns:a="http://schemas.openxmlformats.org/drawingml/2006/main" prst="roundRect">
            <a:avLst>
              <a:gd name="adj" fmla="val 952"/>
            </a:avLst>
          </a:prstGeom>
          <a:solidFill xmlns:a="http://schemas.openxmlformats.org/drawingml/2006/main">
            <a:srgbClr val="E9F8FB"/>
          </a:solidFill>
          <a:ln xmlns:a="http://schemas.openxmlformats.org/drawingml/2006/main" w="9525">
            <a:solidFill>
              <a:srgbClr val="20A9C9"/>
            </a:solidFill>
            <a:prstDash val="solid"/>
          </a:ln>
        </p:spPr>
      </p:sp>
      <p:sp>
        <p:nvSpPr>
          <p:cNvPr id="13" name="salary-right-k">
            <a:extLst xmlns:a="http://schemas.openxmlformats.org/drawingml/2006/main">
              <a:ext uri="{FF2B5EF4-FFF2-40B4-BE49-F238E27FC236}">
                <a16:creationId xmlns:a16="http://schemas.microsoft.com/office/drawing/2014/main" id="{669D3B97-F1F8-484B-A32D-C5954B93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480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本系统方案</a:t>
            </a:r>
          </a:p>
        </p:txBody>
      </p:sp>
      <p:sp>
        <p:nvSpPr>
          <p:cNvPr id="14" name="salary-right-title">
            <a:extLst xmlns:a="http://schemas.openxmlformats.org/drawingml/2006/main">
              <a:ext uri="{FF2B5EF4-FFF2-40B4-BE49-F238E27FC236}">
                <a16:creationId xmlns:a16="http://schemas.microsoft.com/office/drawing/2014/main" id="{A0CD31E0-973E-4E41-932F-40878F9E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719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低经验操作员 + 系统流程</a:t>
            </a:r>
          </a:p>
        </p:txBody>
      </p:sp>
      <p:sp>
        <p:nvSpPr>
          <p:cNvPr id="15" name="salary-right-body">
            <a:extLst xmlns:a="http://schemas.openxmlformats.org/drawingml/2006/main">
              <a:ext uri="{FF2B5EF4-FFF2-40B4-BE49-F238E27FC236}">
                <a16:creationId xmlns:a16="http://schemas.microsoft.com/office/drawing/2014/main" id="{3A3CBED8-02EA-4881-9342-03AF6024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053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操作员主要负责提出目标、确认候选、补充修正；专业判断由多 AGENT、资产体系和质量门禁承担。</a:t>
            </a:r>
          </a:p>
        </p:txBody>
      </p:sp>
      <p:sp>
        <p:nvSpPr>
          <p:cNvPr id="16" name="bridge">
            <a:extLst xmlns:a="http://schemas.openxmlformats.org/drawingml/2006/main">
              <a:ext uri="{FF2B5EF4-FFF2-40B4-BE49-F238E27FC236}">
                <a16:creationId xmlns:a16="http://schemas.microsoft.com/office/drawing/2014/main" id="{B96BA4F6-B8A3-42AC-B73E-8D950F19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676900"/>
            <a:ext cx="967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差距不只是效率，而是组织复制成本。一个系统化流程可以训练多人；一个高级复合人才很难批量复制。</a:t>
            </a:r>
          </a:p>
        </p:txBody>
      </p:sp>
      <p:sp>
        <p:nvSpPr>
          <p:cNvPr id="1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A3A9290-BD09-40CB-BE06-DDD8F5C6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18" name="footer-note">
            <a:extLst xmlns:a="http://schemas.openxmlformats.org/drawingml/2006/main">
              <a:ext uri="{FF2B5EF4-FFF2-40B4-BE49-F238E27FC236}">
                <a16:creationId xmlns:a16="http://schemas.microsoft.com/office/drawing/2014/main" id="{C1585948-0C23-44D3-AB58-0095812C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A94A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8A94A0"/>
                </a:solidFill>
                <a:latin typeface="Microsoft YaHei UI"/>
                <a:ea typeface="Microsoft YaHei UI"/>
                <a:cs typeface="Microsoft YaHei UI"/>
              </a:rPr>
              <a:t>商业价值口径：岗位成本、训练成本、失败返工成本、内部资产复用成本</a:t>
            </a:r>
          </a:p>
        </p:txBody>
      </p:sp>
      <p:sp>
        <p:nvSpPr>
          <p:cNvPr id="19" name="footer-stack">
            <a:extLst xmlns:a="http://schemas.openxmlformats.org/drawingml/2006/main">
              <a:ext uri="{FF2B5EF4-FFF2-40B4-BE49-F238E27FC236}">
                <a16:creationId xmlns:a16="http://schemas.microsoft.com/office/drawing/2014/main" id="{BAB6896D-15A1-4F17-85DB-7EFD805C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534150"/>
            <a:ext cx="422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8A94A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8A94A0"/>
                </a:solidFill>
                <a:latin typeface="Microsoft YaHei UI"/>
                <a:ea typeface="Microsoft YaHei UI"/>
                <a:cs typeface="Microsoft YaHei UI"/>
              </a:rPr>
              <a:t>GPT-Image 2 Edit + Dreamina / Seedance 2.0 + Multi AGENT Workflow</a:t>
            </a:r>
          </a:p>
        </p:txBody>
      </p:sp>
    </p:spTree>
    <p:extLst>
      <p:ext uri="{BB962C8B-B14F-4D97-AF65-F5344CB8AC3E}">
        <p14:creationId xmlns:p14="http://schemas.microsoft.com/office/powerpoint/2010/main" val="20788404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367B5F27-4D69-4654-A3E7-06855D69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AIYA STUDIO / SYSTEM EVALUATION</a:t>
            </a:r>
          </a:p>
        </p:txBody>
      </p:sp>
      <p:sp>
        <p:nvSpPr>
          <p:cNvPr id="2" name="page-no">
            <a:extLst xmlns:a="http://schemas.openxmlformats.org/drawingml/2006/main">
              <a:ext uri="{FF2B5EF4-FFF2-40B4-BE49-F238E27FC236}">
                <a16:creationId xmlns:a16="http://schemas.microsoft.com/office/drawing/2014/main" id="{68AB9E91-D223-48A2-8C6F-0E913198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9550"/>
            <a:ext cx="91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850" b="1">
                <a:solidFill>
                  <a:srgbClr val="D8DDE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50" b="1">
                <a:solidFill>
                  <a:srgbClr val="D8DDE3"/>
                </a:solidFill>
                <a:latin typeface="Microsoft YaHei UI"/>
                <a:ea typeface="Microsoft YaHei UI"/>
                <a:cs typeface="Microsoft YaHei UI"/>
              </a:rPr>
              <a:t>10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845A3701-3636-4302-872E-A927F988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4" name="kicker">
            <a:extLst xmlns:a="http://schemas.openxmlformats.org/drawingml/2006/main">
              <a:ext uri="{FF2B5EF4-FFF2-40B4-BE49-F238E27FC236}">
                <a16:creationId xmlns:a16="http://schemas.microsoft.com/office/drawing/2014/main" id="{4B07C5D7-E2D6-4A2E-93CE-746A5BD9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COMPLETION &amp; PRICING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353BC61-4BF6-45C5-BD0D-D7ED1CFD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075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完成度、短板与报价逻辑：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075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不能按普通平台报价。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93323C21-87CD-481F-81C4-76889A4B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88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88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它应该按内部 AI 制片系统、多 AGENT 工作流系统、企业生产提效工具、私有化部署和高级模型工程化封装来评估。</a:t>
            </a:r>
          </a:p>
        </p:txBody>
      </p:sp>
      <p:sp>
        <p:nvSpPr>
          <p:cNvPr id="7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5B7E588D-7075-4D36-AF0D-91FFBA67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14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3"/>
          </a:solidFill>
          <a:ln xmlns:a="http://schemas.openxmlformats.org/drawingml/2006/main" w="0">
            <a:solidFill>
              <a:srgbClr val="D8DDE3"/>
            </a:solidFill>
            <a:prstDash val="solid"/>
          </a:ln>
        </p:spPr>
      </p:sp>
      <p:sp>
        <p:nvSpPr>
          <p:cNvPr id="8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4F676D01-4872-4BA1-B5D5-94DBD55A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2381250" cy="110490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1E96932F-89C3-4B4B-ACE6-86944BA9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2038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当前完成度</a:t>
            </a:r>
          </a:p>
        </p:txBody>
      </p:sp>
      <p:sp>
        <p:nvSpPr>
          <p:cNvPr id="10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F374E307-35EE-424D-8246-68AF164F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80-85%</a:t>
            </a:r>
          </a:p>
        </p:txBody>
      </p:sp>
      <p:sp>
        <p:nvSpPr>
          <p:cNvPr id="11" name="metric-body">
            <a:extLst xmlns:a="http://schemas.openxmlformats.org/drawingml/2006/main">
              <a:ext uri="{FF2B5EF4-FFF2-40B4-BE49-F238E27FC236}">
                <a16:creationId xmlns:a16="http://schemas.microsoft.com/office/drawing/2014/main" id="{6360AD7D-B2E3-49F9-9B8D-08CC5ECE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862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15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15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模型、后端工作流、AGENT 设计强；已具备内部部署演示基础。</a:t>
            </a:r>
          </a:p>
        </p:txBody>
      </p:sp>
      <p:sp>
        <p:nvSpPr>
          <p:cNvPr id="12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4E39669D-C74B-4A78-9BE1-CDD1BBB9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143250"/>
            <a:ext cx="2381250" cy="110490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91659723-A27B-4115-B65D-6BE14383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95650"/>
            <a:ext cx="2038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强项</a:t>
            </a:r>
          </a:p>
        </p:txBody>
      </p:sp>
      <p:sp>
        <p:nvSpPr>
          <p:cNvPr id="14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AB197AAC-A69C-4D5A-A51D-E804CCBC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052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智能链路</a:t>
            </a:r>
          </a:p>
        </p:txBody>
      </p:sp>
      <p:sp>
        <p:nvSpPr>
          <p:cNvPr id="15" name="metric-body">
            <a:extLst xmlns:a="http://schemas.openxmlformats.org/drawingml/2006/main">
              <a:ext uri="{FF2B5EF4-FFF2-40B4-BE49-F238E27FC236}">
                <a16:creationId xmlns:a16="http://schemas.microsoft.com/office/drawing/2014/main" id="{ED7B664B-28C9-4D2B-AEAC-8744505B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862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15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15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讨论、分镜、prompt、参考绑定、生成队列形成闭环。</a:t>
            </a:r>
          </a:p>
        </p:txBody>
      </p:sp>
      <p:sp>
        <p:nvSpPr>
          <p:cNvPr id="16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E76A7F64-D74B-44E9-B063-3D5D110B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43250"/>
            <a:ext cx="2381250" cy="110490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10750154-84F7-4D0A-9F50-68E1C2E8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95650"/>
            <a:ext cx="2038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短板</a:t>
            </a:r>
          </a:p>
        </p:txBody>
      </p:sp>
      <p:sp>
        <p:nvSpPr>
          <p:cNvPr id="18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58B6F8AC-F4AD-4F94-99F2-5B2D54D4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5052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包装/SOP</a:t>
            </a:r>
          </a:p>
        </p:txBody>
      </p:sp>
      <p:sp>
        <p:nvSpPr>
          <p:cNvPr id="19" name="metric-body">
            <a:extLst xmlns:a="http://schemas.openxmlformats.org/drawingml/2006/main">
              <a:ext uri="{FF2B5EF4-FFF2-40B4-BE49-F238E27FC236}">
                <a16:creationId xmlns:a16="http://schemas.microsoft.com/office/drawing/2014/main" id="{D3A8FAF0-1F6B-4564-9F66-4B08E9F6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8862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15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15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UI 新手引导、商业包装、外部 SaaS 化还可继续强化。</a:t>
            </a:r>
          </a:p>
        </p:txBody>
      </p:sp>
      <p:sp>
        <p:nvSpPr>
          <p:cNvPr id="20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3E5DD9C5-B40D-4E1E-AB14-A82285C4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43250"/>
            <a:ext cx="2381250" cy="110490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D0E4118F-2F3D-4EDB-9362-C20AB29A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95650"/>
            <a:ext cx="2038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报价逻辑</a:t>
            </a:r>
          </a:p>
        </p:txBody>
      </p:sp>
      <p:sp>
        <p:nvSpPr>
          <p:cNvPr id="22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E41C69A5-3805-4A5B-BAE5-9A0F4198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052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080B0F"/>
                </a:solidFill>
                <a:latin typeface="Microsoft YaHei UI"/>
                <a:ea typeface="Microsoft YaHei UI"/>
                <a:cs typeface="Microsoft YaHei UI"/>
              </a:rPr>
              <a:t>系统级</a:t>
            </a:r>
          </a:p>
        </p:txBody>
      </p:sp>
      <p:sp>
        <p:nvSpPr>
          <p:cNvPr id="23" name="metric-body">
            <a:extLst xmlns:a="http://schemas.openxmlformats.org/drawingml/2006/main">
              <a:ext uri="{FF2B5EF4-FFF2-40B4-BE49-F238E27FC236}">
                <a16:creationId xmlns:a16="http://schemas.microsoft.com/office/drawing/2014/main" id="{764F3F83-F67F-4823-B824-B07708A7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862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915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15" b="0">
                <a:solidFill>
                  <a:srgbClr val="5C6672"/>
                </a:solidFill>
                <a:latin typeface="Microsoft YaHei UI"/>
                <a:ea typeface="Microsoft YaHei UI"/>
                <a:cs typeface="Microsoft YaHei UI"/>
              </a:rPr>
              <a:t>按私有化部署和流程提效，而不是按普通网页或工具报价。</a:t>
            </a:r>
          </a:p>
        </p:txBody>
      </p:sp>
      <p:sp>
        <p:nvSpPr>
          <p:cNvPr id="24" name="pricing-box">
            <a:extLst xmlns:a="http://schemas.openxmlformats.org/drawingml/2006/main">
              <a:ext uri="{FF2B5EF4-FFF2-40B4-BE49-F238E27FC236}">
                <a16:creationId xmlns:a16="http://schemas.microsoft.com/office/drawing/2014/main" id="{F5B18D68-81A3-4853-AF6B-270B4BA9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0287000" cy="952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080B0F"/>
          </a:solidFill>
          <a:ln xmlns:a="http://schemas.openxmlformats.org/drawingml/2006/main" w="9525">
            <a:solidFill>
              <a:srgbClr val="080B0F"/>
            </a:solidFill>
            <a:prstDash val="solid"/>
          </a:ln>
        </p:spPr>
      </p:sp>
      <p:sp>
        <p:nvSpPr>
          <p:cNvPr id="25" name="pricing-text">
            <a:extLst xmlns:a="http://schemas.openxmlformats.org/drawingml/2006/main">
              <a:ext uri="{FF2B5EF4-FFF2-40B4-BE49-F238E27FC236}">
                <a16:creationId xmlns:a16="http://schemas.microsoft.com/office/drawing/2014/main" id="{10D2E844-B32A-4BC9-B029-17FA12C1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10150"/>
            <a:ext cx="967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最终估值逻辑：这是“企业内部 AI 制片工作流 + 多 AGENT 制片认知封装 + 高级模型工程化落地”，不是普通 AI 分镜网页。</a:t>
            </a:r>
          </a:p>
        </p:txBody>
      </p:sp>
      <p:sp>
        <p:nvSpPr>
          <p:cNvPr id="26" name="next-proof">
            <a:extLst xmlns:a="http://schemas.openxmlformats.org/drawingml/2006/main">
              <a:ext uri="{FF2B5EF4-FFF2-40B4-BE49-F238E27FC236}">
                <a16:creationId xmlns:a16="http://schemas.microsoft.com/office/drawing/2014/main" id="{A59DA234-4DEC-4A78-BC31-948BD028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43600"/>
            <a:ext cx="902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087891"/>
                </a:solidFill>
                <a:latin typeface="Microsoft YaHei UI"/>
                <a:ea typeface="Microsoft YaHei UI"/>
                <a:cs typeface="Microsoft YaHei UI"/>
              </a:rPr>
              <a:t>正式报价前建议补三项证明：同剧本 benchmark、完整演示样片、3 天上手 SOP。</a:t>
            </a:r>
          </a:p>
        </p:txBody>
      </p:sp>
      <p:sp>
        <p:nvSpPr>
          <p:cNvPr id="2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84949D7-EAF1-4441-ADCC-30F0D9F3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28" name="footer-note">
            <a:extLst xmlns:a="http://schemas.openxmlformats.org/drawingml/2006/main">
              <a:ext uri="{FF2B5EF4-FFF2-40B4-BE49-F238E27FC236}">
                <a16:creationId xmlns:a16="http://schemas.microsoft.com/office/drawing/2014/main" id="{BB7375E0-4418-4C39-BCA2-81DBB407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A94A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8A94A0"/>
                </a:solidFill>
                <a:latin typeface="Microsoft YaHei UI"/>
                <a:ea typeface="Microsoft YaHei UI"/>
                <a:cs typeface="Microsoft YaHei UI"/>
              </a:rPr>
              <a:t>客观短板保留：强在系统智能和流程，商业化外包装仍可继续打磨</a:t>
            </a:r>
          </a:p>
        </p:txBody>
      </p:sp>
      <p:sp>
        <p:nvSpPr>
          <p:cNvPr id="29" name="footer-stack">
            <a:extLst xmlns:a="http://schemas.openxmlformats.org/drawingml/2006/main">
              <a:ext uri="{FF2B5EF4-FFF2-40B4-BE49-F238E27FC236}">
                <a16:creationId xmlns:a16="http://schemas.microsoft.com/office/drawing/2014/main" id="{DCB5A345-2830-444B-80FA-4042ECD6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534150"/>
            <a:ext cx="422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8A94A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8A94A0"/>
                </a:solidFill>
                <a:latin typeface="Microsoft YaHei UI"/>
                <a:ea typeface="Microsoft YaHei UI"/>
                <a:cs typeface="Microsoft YaHei UI"/>
              </a:rPr>
              <a:t>GPT-Image 2 Edit + Dreamina / Seedance 2.0 + Multi AGENT Workflow</a:t>
            </a:r>
          </a:p>
        </p:txBody>
      </p:sp>
    </p:spTree>
    <p:extLst>
      <p:ext uri="{BB962C8B-B14F-4D97-AF65-F5344CB8AC3E}">
        <p14:creationId xmlns:p14="http://schemas.microsoft.com/office/powerpoint/2010/main" val="7435195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2026-06-27T23:47:34.1020000Z</dcterms:created>
  <dcterms:modified xsi:type="dcterms:W3CDTF">2026-06-27T23:47:34.1020000Z</dcterms:modified>
</coreProperties>
</file>